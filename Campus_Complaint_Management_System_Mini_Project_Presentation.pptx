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280160"/>
            <a:ext cx="73152" cy="411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88720"/>
            <a:ext cx="62179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2563EB"/>
                </a:solidFill>
                <a:latin typeface="Calibri"/>
              </a:defRPr>
            </a:pPr>
            <a:r>
              <a:t>23CS4219 — SOFTWARE ENGINEERING LABORATORY</a:t>
            </a:r>
          </a:p>
          <a:p>
            <a:pPr>
              <a:spcAft>
                <a:spcPts val="1200"/>
              </a:spcAft>
              <a:defRPr sz="3200" b="1">
                <a:solidFill>
                  <a:srgbClr val="0F172A"/>
                </a:solidFill>
                <a:latin typeface="Calibri"/>
              </a:defRPr>
            </a:pPr>
            <a:r>
              <a:t>Campus Complaint &amp;</a:t>
            </a:r>
            <a:br/>
            <a:r>
              <a:t>Maintenance Management System</a:t>
            </a:r>
          </a:p>
          <a:p>
            <a:pPr>
              <a:spcAft>
                <a:spcPts val="28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Role-Based Full-Stack Web Application for Institutional Facility Grievance Tracking</a:t>
            </a:r>
          </a:p>
          <a:p>
            <a:pPr>
              <a:spcBef>
                <a:spcPts val="400"/>
              </a:spcBef>
            </a:pPr>
            <a:r>
              <a:rPr b="1" sz="1800">
                <a:solidFill>
                  <a:srgbClr val="0F172A"/>
                </a:solidFill>
              </a:rPr>
              <a:t>Student Name:    </a:t>
            </a:r>
            <a:r>
              <a:rPr sz="1800">
                <a:solidFill>
                  <a:srgbClr val="1E293B"/>
                </a:solidFill>
              </a:rPr>
              <a:t>Karthikeyan Gullipalli (Roll No: [ROLL NUMBER])</a:t>
            </a:r>
          </a:p>
          <a:p>
            <a:pPr>
              <a:spcBef>
                <a:spcPts val="400"/>
              </a:spcBef>
            </a:pPr>
            <a:r>
              <a:rPr b="1" sz="1800">
                <a:solidFill>
                  <a:srgbClr val="0F172A"/>
                </a:solidFill>
              </a:rPr>
              <a:t>Course &amp; Dept:   </a:t>
            </a:r>
            <a:r>
              <a:rPr sz="1800">
                <a:solidFill>
                  <a:srgbClr val="1E293B"/>
                </a:solidFill>
              </a:rPr>
              <a:t>B.Tech CSE  |  Department of Computer Science &amp; Engineering</a:t>
            </a:r>
          </a:p>
          <a:p>
            <a:pPr>
              <a:spcBef>
                <a:spcPts val="400"/>
              </a:spcBef>
            </a:pPr>
            <a:r>
              <a:rPr b="1" sz="1800">
                <a:solidFill>
                  <a:srgbClr val="0F172A"/>
                </a:solidFill>
              </a:rPr>
              <a:t>Institution:     </a:t>
            </a:r>
            <a:r>
              <a:rPr sz="1800">
                <a:solidFill>
                  <a:srgbClr val="1E293B"/>
                </a:solidFill>
              </a:rPr>
              <a:t>Anil Neerukonda Institute of Technology &amp; Sciences (ANITS)</a:t>
            </a:r>
          </a:p>
          <a:p>
            <a:pPr>
              <a:spcBef>
                <a:spcPts val="400"/>
              </a:spcBef>
            </a:pPr>
            <a:r>
              <a:rPr b="1" sz="1800">
                <a:solidFill>
                  <a:srgbClr val="0F172A"/>
                </a:solidFill>
              </a:rPr>
              <a:t>Academic Year:   </a:t>
            </a:r>
            <a:r>
              <a:rPr sz="1800">
                <a:solidFill>
                  <a:srgbClr val="1E293B"/>
                </a:solidFill>
              </a:rPr>
              <a:t>2024–2025  |  Guide: [GUIDE NAME]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645920"/>
            <a:ext cx="34747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2563EB"/>
                </a:solidFill>
                <a:latin typeface="Calibri"/>
              </a:defRPr>
            </a:pPr>
            <a:r>
              <a:t>DIGITAL LIFECYCLE</a:t>
            </a:r>
          </a:p>
          <a:p>
            <a:pPr>
              <a:spcBef>
                <a:spcPts val="800"/>
              </a:spcBef>
            </a:pPr>
            <a:r>
              <a:rPr b="1" sz="1800">
                <a:solidFill>
                  <a:srgbClr val="2563EB"/>
                </a:solidFill>
              </a:rPr>
              <a:t>01  </a:t>
            </a:r>
            <a:r>
              <a:rPr b="1" sz="1800">
                <a:solidFill>
                  <a:srgbClr val="0F172A"/>
                </a:solidFill>
              </a:rPr>
              <a:t>Grievance Lodging
</a:t>
            </a:r>
            <a:r>
              <a:rPr sz="1700">
                <a:solidFill>
                  <a:srgbClr val="475569"/>
                </a:solidFill>
              </a:rPr>
              <a:t>     Student reports issue with room &amp; photo</a:t>
            </a:r>
          </a:p>
          <a:p>
            <a:pPr>
              <a:spcBef>
                <a:spcPts val="800"/>
              </a:spcBef>
            </a:pPr>
            <a:r>
              <a:rPr b="1" sz="1800">
                <a:solidFill>
                  <a:srgbClr val="2563EB"/>
                </a:solidFill>
              </a:rPr>
              <a:t>02  </a:t>
            </a:r>
            <a:r>
              <a:rPr b="1" sz="1800">
                <a:solidFill>
                  <a:srgbClr val="0F172A"/>
                </a:solidFill>
              </a:rPr>
              <a:t>Administrative Triage
</a:t>
            </a:r>
            <a:r>
              <a:rPr sz="1700">
                <a:solidFill>
                  <a:srgbClr val="475569"/>
                </a:solidFill>
              </a:rPr>
              <a:t>     Verification &amp; staff allocation</a:t>
            </a:r>
          </a:p>
          <a:p>
            <a:pPr>
              <a:spcBef>
                <a:spcPts val="800"/>
              </a:spcBef>
            </a:pPr>
            <a:r>
              <a:rPr b="1" sz="1800">
                <a:solidFill>
                  <a:srgbClr val="2563EB"/>
                </a:solidFill>
              </a:rPr>
              <a:t>03  </a:t>
            </a:r>
            <a:r>
              <a:rPr b="1" sz="1800">
                <a:solidFill>
                  <a:srgbClr val="0F172A"/>
                </a:solidFill>
              </a:rPr>
              <a:t>Technician Dispatch
</a:t>
            </a:r>
            <a:r>
              <a:rPr sz="1700">
                <a:solidFill>
                  <a:srgbClr val="475569"/>
                </a:solidFill>
              </a:rPr>
              <a:t>     Active work order in queue</a:t>
            </a:r>
          </a:p>
          <a:p>
            <a:pPr>
              <a:spcBef>
                <a:spcPts val="800"/>
              </a:spcBef>
            </a:pPr>
            <a:r>
              <a:rPr b="1" sz="1800">
                <a:solidFill>
                  <a:srgbClr val="2563EB"/>
                </a:solidFill>
              </a:rPr>
              <a:t>04  </a:t>
            </a:r>
            <a:r>
              <a:rPr b="1" sz="1800">
                <a:solidFill>
                  <a:srgbClr val="0F172A"/>
                </a:solidFill>
              </a:rPr>
              <a:t>Audited Resolution
</a:t>
            </a:r>
            <a:r>
              <a:rPr sz="1700">
                <a:solidFill>
                  <a:srgbClr val="475569"/>
                </a:solidFill>
              </a:rPr>
              <a:t>     Diagnostic remarks &amp; student rating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4048"/>
            <a:ext cx="1036289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01 —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58368"/>
            <a:ext cx="1036289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Why Campus Complaints Need a Digital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263640"/>
            <a:ext cx="103628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336792"/>
            <a:ext cx="7772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475569"/>
                </a:solidFill>
                <a:latin typeface="Calibri"/>
              </a:defRPr>
            </a:pPr>
            <a:r>
              <a:t>Campus Complaint &amp; Maintenance Management System  |  Software Engineering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336792"/>
            <a:ext cx="2590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500" b="1">
                <a:solidFill>
                  <a:srgbClr val="2563EB"/>
                </a:solidFill>
                <a:latin typeface="Calibri"/>
              </a:defRPr>
            </a:pPr>
            <a:r>
              <a:t>Slide 2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20624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400" b="1">
                <a:solidFill>
                  <a:srgbClr val="B91C1C"/>
                </a:solidFill>
                <a:latin typeface="Calibri"/>
              </a:defRPr>
            </a:pPr>
            <a:r>
              <a:t>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103120"/>
            <a:ext cx="18288" cy="26517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103120"/>
            <a:ext cx="164592" cy="164592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2011680"/>
            <a:ext cx="3657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Paper Register</a:t>
            </a:r>
          </a:p>
          <a:p>
            <a:pPr>
              <a:defRPr sz="1700">
                <a:solidFill>
                  <a:srgbClr val="475569"/>
                </a:solidFill>
                <a:latin typeface="Calibri"/>
              </a:defRPr>
            </a:pPr>
            <a:r>
              <a:t>Physical logbooks kept at administrative counters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971800"/>
            <a:ext cx="164592" cy="164592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2880360"/>
            <a:ext cx="3657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Physical Counter</a:t>
            </a:r>
          </a:p>
          <a:p>
            <a:pPr>
              <a:defRPr sz="1700">
                <a:solidFill>
                  <a:srgbClr val="475569"/>
                </a:solidFill>
                <a:latin typeface="Calibri"/>
              </a:defRPr>
            </a:pPr>
            <a:r>
              <a:t>In-person reporting limited to office hours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840479"/>
            <a:ext cx="164592" cy="164592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749039"/>
            <a:ext cx="3657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Verbal Work Order</a:t>
            </a:r>
          </a:p>
          <a:p>
            <a:pPr>
              <a:defRPr sz="1700">
                <a:solidFill>
                  <a:srgbClr val="475569"/>
                </a:solidFill>
                <a:latin typeface="Calibri"/>
              </a:defRPr>
            </a:pPr>
            <a:r>
              <a:t>Unrecorded task assignments without SLAs</a:t>
            </a:r>
          </a:p>
        </p:txBody>
      </p:sp>
      <p:sp>
        <p:nvSpPr>
          <p:cNvPr id="15" name="Oval 14"/>
          <p:cNvSpPr/>
          <p:nvPr/>
        </p:nvSpPr>
        <p:spPr>
          <a:xfrm>
            <a:off x="1024128" y="4709159"/>
            <a:ext cx="164592" cy="164592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617720"/>
            <a:ext cx="3657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❌ No Tracking</a:t>
            </a:r>
          </a:p>
          <a:p>
            <a:pPr>
              <a:defRPr sz="1700">
                <a:solidFill>
                  <a:srgbClr val="475569"/>
                </a:solidFill>
                <a:latin typeface="Calibri"/>
              </a:defRPr>
            </a:pPr>
            <a:r>
              <a:t>Lost complaints, zero visibility, delayed repairs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26080"/>
            <a:ext cx="146304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475569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463040"/>
            <a:ext cx="429768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Calibri"/>
              </a:defRPr>
            </a:pPr>
            <a:r>
              <a:t>WITH CCMS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2057400"/>
            <a:ext cx="18288" cy="2834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59168" y="205740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1965960"/>
            <a:ext cx="3840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Calibri"/>
              </a:defRPr>
            </a:pPr>
            <a:r>
              <a:t>Web Portal</a:t>
            </a:r>
          </a:p>
          <a:p>
            <a:pPr>
              <a:defRPr sz="1700">
                <a:solidFill>
                  <a:srgbClr val="475569"/>
                </a:solidFill>
                <a:latin typeface="Calibri"/>
              </a:defRPr>
            </a:pPr>
            <a:r>
              <a:t>24/7 access with campus location &amp; photo</a:t>
            </a:r>
          </a:p>
        </p:txBody>
      </p:sp>
      <p:sp>
        <p:nvSpPr>
          <p:cNvPr id="22" name="Oval 21"/>
          <p:cNvSpPr/>
          <p:nvPr/>
        </p:nvSpPr>
        <p:spPr>
          <a:xfrm>
            <a:off x="7059168" y="2752344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2660904"/>
            <a:ext cx="3840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Calibri"/>
              </a:defRPr>
            </a:pPr>
            <a:r>
              <a:t>Admin Verification</a:t>
            </a:r>
          </a:p>
          <a:p>
            <a:pPr>
              <a:defRPr sz="1700">
                <a:solidFill>
                  <a:srgbClr val="475569"/>
                </a:solidFill>
                <a:latin typeface="Calibri"/>
              </a:defRPr>
            </a:pPr>
            <a:r>
              <a:t>Supervisory triage and validity checking</a:t>
            </a:r>
          </a:p>
        </p:txBody>
      </p:sp>
      <p:sp>
        <p:nvSpPr>
          <p:cNvPr id="24" name="Oval 23"/>
          <p:cNvSpPr/>
          <p:nvPr/>
        </p:nvSpPr>
        <p:spPr>
          <a:xfrm>
            <a:off x="7059168" y="3447288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3355848"/>
            <a:ext cx="3840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Calibri"/>
              </a:defRPr>
            </a:pPr>
            <a:r>
              <a:t>Staff Assignment</a:t>
            </a:r>
          </a:p>
          <a:p>
            <a:pPr>
              <a:defRPr sz="1700">
                <a:solidFill>
                  <a:srgbClr val="475569"/>
                </a:solidFill>
                <a:latin typeface="Calibri"/>
              </a:defRPr>
            </a:pPr>
            <a:r>
              <a:t>Work dispatched directly to technician queue</a:t>
            </a:r>
          </a:p>
        </p:txBody>
      </p:sp>
      <p:sp>
        <p:nvSpPr>
          <p:cNvPr id="26" name="Oval 25"/>
          <p:cNvSpPr/>
          <p:nvPr/>
        </p:nvSpPr>
        <p:spPr>
          <a:xfrm>
            <a:off x="7059168" y="4142232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60920" y="4050791"/>
            <a:ext cx="3840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Calibri"/>
              </a:defRPr>
            </a:pPr>
            <a:r>
              <a:t>Status Tracking</a:t>
            </a:r>
          </a:p>
          <a:p>
            <a:pPr>
              <a:defRPr sz="1700">
                <a:solidFill>
                  <a:srgbClr val="475569"/>
                </a:solidFill>
                <a:latin typeface="Calibri"/>
              </a:defRPr>
            </a:pPr>
            <a:r>
              <a:t>Live milestone progression from NEW to CLOSED</a:t>
            </a:r>
          </a:p>
        </p:txBody>
      </p:sp>
      <p:sp>
        <p:nvSpPr>
          <p:cNvPr id="28" name="Oval 27"/>
          <p:cNvSpPr/>
          <p:nvPr/>
        </p:nvSpPr>
        <p:spPr>
          <a:xfrm>
            <a:off x="7059168" y="4837176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0920" y="4745736"/>
            <a:ext cx="3840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Calibri"/>
              </a:defRPr>
            </a:pPr>
            <a:r>
              <a:t>Audited Resolution</a:t>
            </a:r>
          </a:p>
          <a:p>
            <a:pPr>
              <a:defRPr sz="1700">
                <a:solidFill>
                  <a:srgbClr val="475569"/>
                </a:solidFill>
                <a:latin typeface="Calibri"/>
              </a:defRPr>
            </a:pPr>
            <a:r>
              <a:t>Diagnostic completion notes and 1–5 star rating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440680"/>
            <a:ext cx="10362895" cy="4114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CCMS replaces an untracked manual process with a centralized digital lifecycle.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4048"/>
            <a:ext cx="1036289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02 — SE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58368"/>
            <a:ext cx="1036289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SDLC Progression &amp; Requirements Traceability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263640"/>
            <a:ext cx="103628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336792"/>
            <a:ext cx="7772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475569"/>
                </a:solidFill>
                <a:latin typeface="Calibri"/>
              </a:defRPr>
            </a:pPr>
            <a:r>
              <a:t>Campus Complaint &amp; Maintenance Management System  |  Software Engineering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336792"/>
            <a:ext cx="2590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500" b="1">
                <a:solidFill>
                  <a:srgbClr val="2563EB"/>
                </a:solidFill>
                <a:latin typeface="Calibri"/>
              </a:defRPr>
            </a:pPr>
            <a:r>
              <a:t>Slide 3 of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572768"/>
            <a:ext cx="9784080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34440" y="1499616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11887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REQUIREMENTS</a:t>
            </a:r>
          </a:p>
        </p:txBody>
      </p:sp>
      <p:sp>
        <p:nvSpPr>
          <p:cNvPr id="10" name="Oval 9"/>
          <p:cNvSpPr/>
          <p:nvPr/>
        </p:nvSpPr>
        <p:spPr>
          <a:xfrm>
            <a:off x="3154680" y="1499616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755648"/>
            <a:ext cx="11887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12" name="Oval 11"/>
          <p:cNvSpPr/>
          <p:nvPr/>
        </p:nvSpPr>
        <p:spPr>
          <a:xfrm>
            <a:off x="5074920" y="1499616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55648"/>
            <a:ext cx="11887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IMPLEMENTATION</a:t>
            </a:r>
          </a:p>
        </p:txBody>
      </p:sp>
      <p:sp>
        <p:nvSpPr>
          <p:cNvPr id="14" name="Oval 13"/>
          <p:cNvSpPr/>
          <p:nvPr/>
        </p:nvSpPr>
        <p:spPr>
          <a:xfrm>
            <a:off x="6995159" y="1499616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8823960" y="1499616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55648"/>
            <a:ext cx="11887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18" name="Oval 17"/>
          <p:cNvSpPr/>
          <p:nvPr/>
        </p:nvSpPr>
        <p:spPr>
          <a:xfrm>
            <a:off x="10561319" y="1499616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1755648"/>
            <a:ext cx="11887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MAINTENANCE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468880"/>
            <a:ext cx="10362895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Requirements → Implementation Traceability Mapping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26080"/>
            <a:ext cx="10362895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b="1" sz="2000">
                <a:solidFill>
                  <a:srgbClr val="2563EB"/>
                </a:solidFill>
              </a:rPr>
              <a:t>Secure Access            </a:t>
            </a:r>
            <a:r>
              <a:rPr b="1" sz="2000">
                <a:solidFill>
                  <a:srgbClr val="0F172A"/>
                </a:solidFill>
              </a:rPr>
              <a:t>→   </a:t>
            </a:r>
            <a:r>
              <a:rPr sz="2000">
                <a:solidFill>
                  <a:srgbClr val="1E293B"/>
                </a:solidFill>
              </a:rPr>
              <a:t>Stateless JWT authentication + bcryptjs password hashing + verifyToken middleware</a:t>
            </a:r>
          </a:p>
          <a:p>
            <a:pPr>
              <a:spcBef>
                <a:spcPts val="1400"/>
              </a:spcBef>
            </a:pPr>
            <a:r>
              <a:rPr b="1" sz="2000">
                <a:solidFill>
                  <a:srgbClr val="2563EB"/>
                </a:solidFill>
              </a:rPr>
              <a:t>Complaint Lodging        </a:t>
            </a:r>
            <a:r>
              <a:rPr b="1" sz="2000">
                <a:solidFill>
                  <a:srgbClr val="0F172A"/>
                </a:solidFill>
              </a:rPr>
              <a:t>→   </a:t>
            </a:r>
            <a:r>
              <a:rPr sz="2000">
                <a:solidFill>
                  <a:srgbClr val="1E293B"/>
                </a:solidFill>
              </a:rPr>
              <a:t>Dynamic React form + campus category &amp; room mapping + Multer evidence upload</a:t>
            </a:r>
          </a:p>
          <a:p>
            <a:pPr>
              <a:spcBef>
                <a:spcPts val="1400"/>
              </a:spcBef>
            </a:pPr>
            <a:r>
              <a:rPr b="1" sz="2000">
                <a:solidFill>
                  <a:srgbClr val="2563EB"/>
                </a:solidFill>
              </a:rPr>
              <a:t>Lifecycle Control        </a:t>
            </a:r>
            <a:r>
              <a:rPr b="1" sz="2000">
                <a:solidFill>
                  <a:srgbClr val="0F172A"/>
                </a:solidFill>
              </a:rPr>
              <a:t>→   </a:t>
            </a:r>
            <a:r>
              <a:rPr sz="2000">
                <a:solidFill>
                  <a:srgbClr val="1E293B"/>
                </a:solidFill>
              </a:rPr>
              <a:t>Strict server-side Finite State Machine validator + immutable complaint_updates log</a:t>
            </a:r>
          </a:p>
          <a:p>
            <a:pPr>
              <a:spcBef>
                <a:spcPts val="1400"/>
              </a:spcBef>
            </a:pPr>
            <a:r>
              <a:rPr b="1" sz="2000">
                <a:solidFill>
                  <a:srgbClr val="2563EB"/>
                </a:solidFill>
              </a:rPr>
              <a:t>Quality Verification     </a:t>
            </a:r>
            <a:r>
              <a:rPr b="1" sz="2000">
                <a:solidFill>
                  <a:srgbClr val="0F172A"/>
                </a:solidFill>
              </a:rPr>
              <a:t>→   </a:t>
            </a:r>
            <a:r>
              <a:rPr sz="2000">
                <a:solidFill>
                  <a:srgbClr val="1E293B"/>
                </a:solidFill>
              </a:rPr>
              <a:t>Playwright end-to-end journeys + Basis Path Testing on transitions (V(G) = 11)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4048"/>
            <a:ext cx="1036289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03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58368"/>
            <a:ext cx="1036289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Decoupled 3-Tier Layered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263640"/>
            <a:ext cx="103628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336792"/>
            <a:ext cx="7772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475569"/>
                </a:solidFill>
                <a:latin typeface="Calibri"/>
              </a:defRPr>
            </a:pPr>
            <a:r>
              <a:t>Campus Complaint &amp; Maintenance Management System  |  Software Engineering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336792"/>
            <a:ext cx="2590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500" b="1">
                <a:solidFill>
                  <a:srgbClr val="2563EB"/>
                </a:solidFill>
                <a:latin typeface="Calibri"/>
              </a:defRPr>
            </a:pPr>
            <a:r>
              <a:t>Slide 4 of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463040"/>
            <a:ext cx="566928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STUDENTS  |  FACULTY  |  ADMIN  |  STAFF</a:t>
            </a:r>
          </a:p>
        </p:txBody>
      </p:sp>
      <p:sp>
        <p:nvSpPr>
          <p:cNvPr id="8" name="Down Arrow 7"/>
          <p:cNvSpPr/>
          <p:nvPr/>
        </p:nvSpPr>
        <p:spPr>
          <a:xfrm>
            <a:off x="3657599" y="1993392"/>
            <a:ext cx="182880" cy="22860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240280"/>
            <a:ext cx="566928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REACT FRONTEND (SPA)</a:t>
            </a:r>
            <a:br/>
            <a:r>
              <a:t>React 18 · Vite 5 · Tailwind CSS · Axios Client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657599" y="2852928"/>
            <a:ext cx="182880" cy="22860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108960"/>
            <a:ext cx="5669280" cy="41148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REST API SERVER (Node.js 18 + Express 4.19)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566160"/>
            <a:ext cx="5120640" cy="530352"/>
          </a:xfrm>
          <a:prstGeom prst="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E293B"/>
                </a:solidFill>
                <a:latin typeface="Calibri"/>
              </a:defRPr>
            </a:pPr>
            <a:r>
              <a:t>Auth Middleware  |  Validation  |  FSM State Engine</a:t>
            </a:r>
            <a:br/>
            <a:r>
              <a:t>Staff Assignment  |  Multer Upload  |  Audit Logger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657599" y="4133087"/>
            <a:ext cx="182880" cy="22860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389120"/>
            <a:ext cx="5669280" cy="594360"/>
          </a:xfrm>
          <a:prstGeom prst="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MYSQL 8 RELATIONAL DATABASE</a:t>
            </a:r>
            <a:br/>
            <a:r>
              <a:t>ccms_db · 7 Normalized Tables · InnoDB Transactions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2606040"/>
            <a:ext cx="1920240" cy="41148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563EB"/>
                </a:solidFill>
                <a:latin typeface="Calibri"/>
              </a:defRPr>
            </a:pPr>
            <a:r>
              <a:t>JWT Bearer Token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463040"/>
            <a:ext cx="41148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0F172A"/>
                </a:solidFill>
                <a:latin typeface="Calibri"/>
              </a:defRPr>
            </a:pPr>
            <a:r>
              <a:t>Key Architectural Principles</a:t>
            </a:r>
          </a:p>
          <a:p>
            <a:pPr>
              <a:spcBef>
                <a:spcPts val="1200"/>
              </a:spcBef>
            </a:pPr>
            <a:r>
              <a:rPr b="1" sz="2000">
                <a:solidFill>
                  <a:srgbClr val="2563EB"/>
                </a:solidFill>
              </a:rPr>
              <a:t>• Separation of Concerns
</a:t>
            </a:r>
            <a:r>
              <a:rPr sz="1800">
                <a:solidFill>
                  <a:srgbClr val="1E293B"/>
                </a:solidFill>
              </a:rPr>
              <a:t>Presentation tier is strictly decoupled from storage. The client never queries MySQL directly; all operations are governed by validated REST endpoints.</a:t>
            </a:r>
          </a:p>
          <a:p>
            <a:pPr>
              <a:spcBef>
                <a:spcPts val="1200"/>
              </a:spcBef>
            </a:pPr>
            <a:r>
              <a:rPr b="1" sz="2000">
                <a:solidFill>
                  <a:srgbClr val="2563EB"/>
                </a:solidFill>
              </a:rPr>
              <a:t>• Stateless JWT Authorization
</a:t>
            </a:r>
            <a:r>
              <a:rPr sz="1800">
                <a:solidFill>
                  <a:srgbClr val="1E293B"/>
                </a:solidFill>
              </a:rPr>
              <a:t>HS256 signed Bearer tokens eliminate server-side session state, enabling fast horizontal scaling and seamless route protection.</a:t>
            </a:r>
          </a:p>
          <a:p>
            <a:pPr>
              <a:spcBef>
                <a:spcPts val="1200"/>
              </a:spcBef>
            </a:pPr>
            <a:r>
              <a:rPr b="1" sz="2000">
                <a:solidFill>
                  <a:srgbClr val="2563EB"/>
                </a:solidFill>
              </a:rPr>
              <a:t>• ACID &amp; Referential Integrity
</a:t>
            </a:r>
            <a:r>
              <a:rPr sz="1800">
                <a:solidFill>
                  <a:srgbClr val="1E293B"/>
                </a:solidFill>
              </a:rPr>
              <a:t>Normalized 3NF relational schema with strict foreign keys, atomic transactions, and parameterized SQL queries eliminating SQL injection.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4048"/>
            <a:ext cx="1036289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04 —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58368"/>
            <a:ext cx="1036289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Finite State Machine &amp; Role Responsibilities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263640"/>
            <a:ext cx="103628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336792"/>
            <a:ext cx="7772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475569"/>
                </a:solidFill>
                <a:latin typeface="Calibri"/>
              </a:defRPr>
            </a:pPr>
            <a:r>
              <a:t>Campus Complaint &amp; Maintenance Management System  |  Software Engineering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336792"/>
            <a:ext cx="2590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500" b="1">
                <a:solidFill>
                  <a:srgbClr val="2563EB"/>
                </a:solidFill>
                <a:latin typeface="Calibri"/>
              </a:defRPr>
            </a:pPr>
            <a:r>
              <a:t>Slide 5 of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554480"/>
            <a:ext cx="1280160" cy="594360"/>
          </a:xfrm>
          <a:prstGeom prst="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NEW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67712" y="1737360"/>
            <a:ext cx="201168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1554480"/>
            <a:ext cx="1463040" cy="594360"/>
          </a:xfrm>
          <a:prstGeom prst="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VERIFIED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96512" y="1737360"/>
            <a:ext cx="201168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554480"/>
            <a:ext cx="1463040" cy="594360"/>
          </a:xfrm>
          <a:prstGeom prst="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ASSIGNED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25312" y="1737360"/>
            <a:ext cx="201168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1645920" cy="594360"/>
          </a:xfrm>
          <a:prstGeom prst="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IN PROGRESS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36992" y="1737360"/>
            <a:ext cx="201168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554480"/>
            <a:ext cx="1463040" cy="594360"/>
          </a:xfrm>
          <a:prstGeom prst="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RESOLVED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65792" y="1737360"/>
            <a:ext cx="201168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0" y="1554480"/>
            <a:ext cx="1218895" cy="594360"/>
          </a:xfrm>
          <a:prstGeom prst="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CLOSED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2468880"/>
            <a:ext cx="201168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B91C1C"/>
                </a:solidFill>
                <a:latin typeface="Calibri"/>
              </a:defRPr>
            </a:pPr>
            <a:r>
              <a:t>REJECTED (Invalid)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474720" y="2167128"/>
            <a:ext cx="164592" cy="274320"/>
          </a:xfrm>
          <a:prstGeom prst="downArrow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65615" y="2468880"/>
            <a:ext cx="201168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B45309"/>
                </a:solidFill>
                <a:latin typeface="Calibri"/>
              </a:defRPr>
            </a:pPr>
            <a:r>
              <a:t>REOPENED (Recurring)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10149840" y="2167128"/>
            <a:ext cx="164592" cy="274320"/>
          </a:xfrm>
          <a:prstGeom prst="downArrow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337560"/>
            <a:ext cx="3291840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2563EB"/>
                </a:solidFill>
                <a:latin typeface="Calibri"/>
              </a:defRPr>
            </a:pPr>
            <a:r>
              <a:t>STUDENT / FACULTY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  <a:latin typeface="Calibri"/>
              </a:defRPr>
            </a:pPr>
            <a:r>
              <a:t>Submit  →  Track  →  Rate</a:t>
            </a:r>
          </a:p>
          <a:p>
            <a:pPr>
              <a:spcBef>
                <a:spcPts val="600"/>
              </a:spcBef>
              <a:defRPr sz="1700">
                <a:solidFill>
                  <a:srgbClr val="1E293B"/>
                </a:solidFill>
                <a:latin typeface="Calibri"/>
              </a:defRPr>
            </a:pPr>
            <a:r>
              <a:t>• Lodges complaint with building, room &amp; photo evidence</a:t>
            </a:r>
          </a:p>
          <a:p>
            <a:pPr>
              <a:spcBef>
                <a:spcPts val="600"/>
              </a:spcBef>
              <a:defRPr sz="1700">
                <a:solidFill>
                  <a:srgbClr val="1E293B"/>
                </a:solidFill>
                <a:latin typeface="Calibri"/>
              </a:defRPr>
            </a:pPr>
            <a:r>
              <a:t>• Tracks live milestone timeline from submission to fix</a:t>
            </a:r>
          </a:p>
          <a:p>
            <a:pPr>
              <a:spcBef>
                <a:spcPts val="600"/>
              </a:spcBef>
              <a:defRPr sz="1700">
                <a:solidFill>
                  <a:srgbClr val="1E293B"/>
                </a:solidFill>
                <a:latin typeface="Calibri"/>
              </a:defRPr>
            </a:pPr>
            <a:r>
              <a:t>• Submits 1–5 star rating and feedback upon closure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337560"/>
            <a:ext cx="3291840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ADMINISTRATOR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  <a:latin typeface="Calibri"/>
              </a:defRPr>
            </a:pPr>
            <a:r>
              <a:t>Verify  →  Assign  →  Close</a:t>
            </a:r>
          </a:p>
          <a:p>
            <a:pPr>
              <a:spcBef>
                <a:spcPts val="600"/>
              </a:spcBef>
              <a:defRPr sz="1700">
                <a:solidFill>
                  <a:srgbClr val="1E293B"/>
                </a:solidFill>
                <a:latin typeface="Calibri"/>
              </a:defRPr>
            </a:pPr>
            <a:r>
              <a:t>• Inspects ticket details; marks VERIFIED or REJECTED</a:t>
            </a:r>
          </a:p>
          <a:p>
            <a:pPr>
              <a:spcBef>
                <a:spcPts val="600"/>
              </a:spcBef>
              <a:defRPr sz="1700">
                <a:solidFill>
                  <a:srgbClr val="1E293B"/>
                </a:solidFill>
                <a:latin typeface="Calibri"/>
              </a:defRPr>
            </a:pPr>
            <a:r>
              <a:t>• Dispatches work order to qualified maintenance staff</a:t>
            </a:r>
          </a:p>
          <a:p>
            <a:pPr>
              <a:spcBef>
                <a:spcPts val="600"/>
              </a:spcBef>
              <a:defRPr sz="1700">
                <a:solidFill>
                  <a:srgbClr val="1E293B"/>
                </a:solidFill>
                <a:latin typeface="Calibri"/>
              </a:defRPr>
            </a:pPr>
            <a:r>
              <a:t>• Reviews repair diagnostic notes and confirms 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337560"/>
            <a:ext cx="3291840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15803D"/>
                </a:solidFill>
                <a:latin typeface="Calibri"/>
              </a:defRPr>
            </a:pPr>
            <a:r>
              <a:t>MAINTENANCE STAFF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  <a:latin typeface="Calibri"/>
              </a:defRPr>
            </a:pPr>
            <a:r>
              <a:t>Accept  →  Work  →  Resolve</a:t>
            </a:r>
          </a:p>
          <a:p>
            <a:pPr>
              <a:spcBef>
                <a:spcPts val="600"/>
              </a:spcBef>
              <a:defRPr sz="1700">
                <a:solidFill>
                  <a:srgbClr val="1E293B"/>
                </a:solidFill>
                <a:latin typeface="Calibri"/>
              </a:defRPr>
            </a:pPr>
            <a:r>
              <a:t>• Accesses assigned work orders in dedicated queue</a:t>
            </a:r>
          </a:p>
          <a:p>
            <a:pPr>
              <a:spcBef>
                <a:spcPts val="600"/>
              </a:spcBef>
              <a:defRPr sz="1700">
                <a:solidFill>
                  <a:srgbClr val="1E293B"/>
                </a:solidFill>
                <a:latin typeface="Calibri"/>
              </a:defRPr>
            </a:pPr>
            <a:r>
              <a:t>• Transitions status to IN PROGRESS upon starting repair</a:t>
            </a:r>
          </a:p>
          <a:p>
            <a:pPr>
              <a:spcBef>
                <a:spcPts val="600"/>
              </a:spcBef>
              <a:defRPr sz="1700">
                <a:solidFill>
                  <a:srgbClr val="1E293B"/>
                </a:solidFill>
                <a:latin typeface="Calibri"/>
              </a:defRPr>
            </a:pPr>
            <a:r>
              <a:t>• Logs diagnostic remarks and marks ticket RESOLVED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4048"/>
            <a:ext cx="1036289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05 — MODULES &amp;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58368"/>
            <a:ext cx="1036289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System Modules &amp; Production 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263640"/>
            <a:ext cx="103628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336792"/>
            <a:ext cx="7772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475569"/>
                </a:solidFill>
                <a:latin typeface="Calibri"/>
              </a:defRPr>
            </a:pPr>
            <a:r>
              <a:t>Campus Complaint &amp; Maintenance Management System  |  Software Engineering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336792"/>
            <a:ext cx="2590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500" b="1">
                <a:solidFill>
                  <a:srgbClr val="2563EB"/>
                </a:solidFill>
                <a:latin typeface="Calibri"/>
              </a:defRPr>
            </a:pPr>
            <a:r>
              <a:t>Slide 6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8463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MODULE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874519"/>
            <a:ext cx="4846320" cy="530352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Authentication &amp; RBAC</a:t>
            </a:r>
            <a:br/>
            <a:r>
              <a:t>Registration, login, JWT token issuance, route guards</a:t>
            </a:r>
          </a:p>
        </p:txBody>
      </p:sp>
      <p:sp>
        <p:nvSpPr>
          <p:cNvPr id="9" name="Down Arrow 8"/>
          <p:cNvSpPr/>
          <p:nvPr/>
        </p:nvSpPr>
        <p:spPr>
          <a:xfrm>
            <a:off x="3246120" y="2423160"/>
            <a:ext cx="164592" cy="237744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697479"/>
            <a:ext cx="4846320" cy="530352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Complaint Lodging</a:t>
            </a:r>
            <a:br/>
            <a:r>
              <a:t>Dynamic React form, category/room mapping, Multer upload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246120" y="3246120"/>
            <a:ext cx="164592" cy="237744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520439"/>
            <a:ext cx="4846320" cy="530352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Administrative Triage</a:t>
            </a:r>
            <a:br/>
            <a:r>
              <a:t>Campus-wide review, status filtering, staff assignment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246120" y="4069079"/>
            <a:ext cx="164592" cy="237744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343400"/>
            <a:ext cx="4846320" cy="530352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Maintenance Work Orders</a:t>
            </a:r>
            <a:br/>
            <a:r>
              <a:t>Technician queue, work commencement, repair remarks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246120" y="4892040"/>
            <a:ext cx="164592" cy="237744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5166360"/>
            <a:ext cx="4846320" cy="530352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Audit &amp; Feedback</a:t>
            </a:r>
            <a:br/>
            <a:r>
              <a:t>Append-only status history in complaint_updates &amp; ratings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371600"/>
            <a:ext cx="466344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F172A"/>
                </a:solidFill>
                <a:latin typeface="Calibri"/>
              </a:defRPr>
            </a:pPr>
            <a:r>
              <a:t>TECHNOLOGY STACK</a:t>
            </a:r>
          </a:p>
          <a:p>
            <a:pPr>
              <a:spcBef>
                <a:spcPts val="1400"/>
              </a:spcBef>
            </a:pPr>
            <a:r>
              <a:rPr b="1" sz="2000">
                <a:solidFill>
                  <a:srgbClr val="2563EB"/>
                </a:solidFill>
              </a:rPr>
              <a:t>FRONTEND
</a:t>
            </a:r>
            <a:r>
              <a:rPr sz="1800">
                <a:solidFill>
                  <a:srgbClr val="1E293B"/>
                </a:solidFill>
              </a:rPr>
              <a:t>React 18  ·  Vite 5  ·  Tailwind CSS  ·  Axios  ·  React Router</a:t>
            </a:r>
          </a:p>
          <a:p>
            <a:pPr>
              <a:spcBef>
                <a:spcPts val="1400"/>
              </a:spcBef>
            </a:pPr>
            <a:r>
              <a:rPr b="1" sz="2000">
                <a:solidFill>
                  <a:srgbClr val="2563EB"/>
                </a:solidFill>
              </a:rPr>
              <a:t>BACKEND
</a:t>
            </a:r>
            <a:r>
              <a:rPr sz="1800">
                <a:solidFill>
                  <a:srgbClr val="1E293B"/>
                </a:solidFill>
              </a:rPr>
              <a:t>Node.js 18 LTS  ·  Express 4.19  ·  express-validator  ·  Multer</a:t>
            </a:r>
          </a:p>
          <a:p>
            <a:pPr>
              <a:spcBef>
                <a:spcPts val="1400"/>
              </a:spcBef>
            </a:pPr>
            <a:r>
              <a:rPr b="1" sz="2000">
                <a:solidFill>
                  <a:srgbClr val="2563EB"/>
                </a:solidFill>
              </a:rPr>
              <a:t>DATABASE
</a:t>
            </a:r>
            <a:r>
              <a:rPr sz="1800">
                <a:solidFill>
                  <a:srgbClr val="1E293B"/>
                </a:solidFill>
              </a:rPr>
              <a:t>MySQL 8.0  ·  mysql2 Connection Pool  ·  InnoDB Engine (7 Tables)</a:t>
            </a:r>
          </a:p>
          <a:p>
            <a:pPr>
              <a:spcBef>
                <a:spcPts val="1400"/>
              </a:spcBef>
            </a:pPr>
            <a:r>
              <a:rPr b="1" sz="2000">
                <a:solidFill>
                  <a:srgbClr val="2563EB"/>
                </a:solidFill>
              </a:rPr>
              <a:t>SECURITY / TESTING
</a:t>
            </a:r>
            <a:r>
              <a:rPr sz="1800">
                <a:solidFill>
                  <a:srgbClr val="1E293B"/>
                </a:solidFill>
              </a:rPr>
              <a:t>JSON Web Tokens (JWT HS256)  ·  bcryptjs (10 rounds)  ·  Playwright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4048"/>
            <a:ext cx="1036289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06 —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58368"/>
            <a:ext cx="1036289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Relational Database Schema &amp; Data Integrity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263640"/>
            <a:ext cx="103628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336792"/>
            <a:ext cx="7772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475569"/>
                </a:solidFill>
                <a:latin typeface="Calibri"/>
              </a:defRPr>
            </a:pPr>
            <a:r>
              <a:t>Campus Complaint &amp; Maintenance Management System  |  Software Engineering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336792"/>
            <a:ext cx="2590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500" b="1">
                <a:solidFill>
                  <a:srgbClr val="2563EB"/>
                </a:solidFill>
                <a:latin typeface="Calibri"/>
              </a:defRPr>
            </a:pPr>
            <a:r>
              <a:t>Slide 7 of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417320"/>
            <a:ext cx="292608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USERS</a:t>
            </a:r>
            <a:br/>
            <a:r>
              <a:t>id (PK) · name · email</a:t>
            </a:r>
            <a:br/>
            <a:r>
              <a:t>role · department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31920" y="1783080"/>
            <a:ext cx="320040" cy="201168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17320"/>
            <a:ext cx="3413455" cy="960120"/>
          </a:xfrm>
          <a:prstGeom prst="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COMPLAINTS (Core Entity)</a:t>
            </a:r>
            <a:br/>
            <a:r>
              <a:t>id (PK) · complaint_number · user_id (FK)</a:t>
            </a:r>
            <a:br/>
            <a:r>
              <a:t>category_id (FK) · location_id (FK) · status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909560" y="1783080"/>
            <a:ext cx="320040" cy="201168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51215" y="1417320"/>
            <a:ext cx="292608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LOCATIONS &amp; CATEGORIES</a:t>
            </a:r>
            <a:br/>
            <a:r>
              <a:t>building · floor · room</a:t>
            </a:r>
            <a:br/>
            <a:r>
              <a:t>category_name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286000" y="2423160"/>
            <a:ext cx="182880" cy="27432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743200"/>
            <a:ext cx="292608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563EB"/>
                </a:solidFill>
                <a:latin typeface="Calibri"/>
              </a:defRPr>
            </a:pPr>
            <a:r>
              <a:t>COMPLAINT_ASSIGNMENTS</a:t>
            </a:r>
            <a:br/>
            <a:r>
              <a:t>staff_id (FK) · assigned_by (FK)</a:t>
            </a:r>
            <a:br/>
            <a:r>
              <a:t>assigned_at · notes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89320" y="2423160"/>
            <a:ext cx="182880" cy="27432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2743200"/>
            <a:ext cx="3413455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563EB"/>
                </a:solidFill>
                <a:latin typeface="Calibri"/>
              </a:defRPr>
            </a:pPr>
            <a:r>
              <a:t>COMPLAINT_UPDATES (Audit Log)</a:t>
            </a:r>
            <a:br/>
            <a:r>
              <a:t>old_status · new_status · remarks</a:t>
            </a:r>
            <a:br/>
            <a:r>
              <a:t>updated_by (FK) · created_at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692640" y="2423160"/>
            <a:ext cx="182880" cy="27432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51215" y="2743200"/>
            <a:ext cx="292608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563EB"/>
                </a:solidFill>
                <a:latin typeface="Calibri"/>
              </a:defRPr>
            </a:pPr>
            <a:r>
              <a:t>FEEDBACK</a:t>
            </a:r>
            <a:br/>
            <a:r>
              <a:t>complaint_id (FK) · user_id (FK)</a:t>
            </a:r>
            <a:br/>
            <a:r>
              <a:t>rating (1–5) · comments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023360"/>
            <a:ext cx="103628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329184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3NF Normalization</a:t>
            </a:r>
          </a:p>
          <a:p>
            <a:pPr>
              <a:spcBef>
                <a:spcPts val="600"/>
              </a:spcBef>
              <a:defRPr sz="1700">
                <a:solidFill>
                  <a:srgbClr val="1E293B"/>
                </a:solidFill>
                <a:latin typeface="Calibri"/>
              </a:defRPr>
            </a:pPr>
            <a:r>
              <a:t>Redundancy eliminated. Campus locations and categories are stored as independent master tables, allowing dynamic additions without schema alterations.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160520"/>
            <a:ext cx="329184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2563EB"/>
                </a:solidFill>
                <a:latin typeface="Calibri"/>
              </a:defRPr>
            </a:pPr>
            <a:r>
              <a:t>Referential Integrity</a:t>
            </a:r>
          </a:p>
          <a:p>
            <a:pPr>
              <a:spcBef>
                <a:spcPts val="600"/>
              </a:spcBef>
              <a:defRPr sz="1700">
                <a:solidFill>
                  <a:srgbClr val="1E293B"/>
                </a:solidFill>
                <a:latin typeface="Calibri"/>
              </a:defRPr>
            </a:pPr>
            <a:r>
              <a:t>Foreign key constraints with ON UPDATE / ON DELETE rules guarantee that tickets and history always map to valid users and rooms.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160520"/>
            <a:ext cx="329184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15803D"/>
                </a:solidFill>
                <a:latin typeface="Calibri"/>
              </a:defRPr>
            </a:pPr>
            <a:r>
              <a:t>Immutable Audit Trail</a:t>
            </a:r>
          </a:p>
          <a:p>
            <a:pPr>
              <a:spcBef>
                <a:spcPts val="600"/>
              </a:spcBef>
              <a:defRPr sz="1700">
                <a:solidFill>
                  <a:srgbClr val="1E293B"/>
                </a:solidFill>
                <a:latin typeface="Calibri"/>
              </a:defRPr>
            </a:pPr>
            <a:r>
              <a:t>The complaint_updates table operates as an append-only transaction log, recording every status transition with operator IDs and timestamps.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4048"/>
            <a:ext cx="1036289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07 —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58368"/>
            <a:ext cx="1036289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Authentic Application User Interface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263640"/>
            <a:ext cx="103628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336792"/>
            <a:ext cx="7772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475569"/>
                </a:solidFill>
                <a:latin typeface="Calibri"/>
              </a:defRPr>
            </a:pPr>
            <a:r>
              <a:t>Campus Complaint &amp; Maintenance Management System  |  Software Engineering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336792"/>
            <a:ext cx="2590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500" b="1">
                <a:solidFill>
                  <a:srgbClr val="2563EB"/>
                </a:solidFill>
                <a:latin typeface="Calibri"/>
              </a:defRPr>
            </a:pPr>
            <a:r>
              <a:t>Slide 8 of 10</a:t>
            </a:r>
          </a:p>
        </p:txBody>
      </p:sp>
      <p:pic>
        <p:nvPicPr>
          <p:cNvPr id="7" name="Picture 6" descr="07_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4937760" cy="30861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4663440"/>
            <a:ext cx="49377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Administrator Control Center</a:t>
            </a:r>
          </a:p>
          <a:p>
            <a:pPr>
              <a:spcBef>
                <a:spcPts val="400"/>
              </a:spcBef>
              <a:defRPr sz="1800">
                <a:solidFill>
                  <a:srgbClr val="1E293B"/>
                </a:solidFill>
                <a:latin typeface="Calibri"/>
              </a:defRPr>
            </a:pPr>
            <a:r>
              <a:t>• Real-Time Campus KPIs: Total, open, resolved, and critical ticket counts.</a:t>
            </a:r>
            <a:br/>
            <a:r>
              <a:t>• Interactive Triage: Instant search, category filters, and verify/reject controls.</a:t>
            </a:r>
          </a:p>
        </p:txBody>
      </p:sp>
      <p:pic>
        <p:nvPicPr>
          <p:cNvPr id="9" name="Picture 8" descr="15_maintenance_tas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535" y="1417320"/>
            <a:ext cx="4937760" cy="30861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9535" y="4663440"/>
            <a:ext cx="49377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15803D"/>
                </a:solidFill>
                <a:latin typeface="Calibri"/>
              </a:defRPr>
            </a:pPr>
            <a:r>
              <a:t>Technician Work Order Queue</a:t>
            </a:r>
          </a:p>
          <a:p>
            <a:pPr>
              <a:spcBef>
                <a:spcPts val="400"/>
              </a:spcBef>
              <a:defRPr sz="1800">
                <a:solidFill>
                  <a:srgbClr val="1E293B"/>
                </a:solidFill>
                <a:latin typeface="Calibri"/>
              </a:defRPr>
            </a:pPr>
            <a:r>
              <a:t>• Room-Level Dispatching: Displays exact campus building, floor, and urgency.</a:t>
            </a:r>
            <a:br/>
            <a:r>
              <a:t>• Work Execution: Single-click 'Start Work' and diagnostic remarks submission.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4048"/>
            <a:ext cx="1036289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08 —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58368"/>
            <a:ext cx="1036289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Quality Assurance &amp; Test Execution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263640"/>
            <a:ext cx="103628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336792"/>
            <a:ext cx="7772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475569"/>
                </a:solidFill>
                <a:latin typeface="Calibri"/>
              </a:defRPr>
            </a:pPr>
            <a:r>
              <a:t>Campus Complaint &amp; Maintenance Management System  |  Software Engineering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336792"/>
            <a:ext cx="2590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500" b="1">
                <a:solidFill>
                  <a:srgbClr val="2563EB"/>
                </a:solidFill>
                <a:latin typeface="Calibri"/>
              </a:defRPr>
            </a:pPr>
            <a:r>
              <a:t>Slide 9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572000" cy="1188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4800" b="1">
                <a:solidFill>
                  <a:srgbClr val="15803D"/>
                </a:solidFill>
                <a:latin typeface="Calibri"/>
              </a:defRPr>
            </a:pPr>
            <a:r>
              <a:t>30 / 30</a:t>
            </a:r>
          </a:p>
          <a:p>
            <a:pPr>
              <a:defRPr sz="1900" b="1">
                <a:solidFill>
                  <a:srgbClr val="0F172A"/>
                </a:solidFill>
                <a:latin typeface="Calibri"/>
              </a:defRPr>
            </a:pPr>
            <a:r>
              <a:t>TEST CASES PASSED  ·  100% PASS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572000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b="1" sz="1900">
                <a:solidFill>
                  <a:srgbClr val="2563EB"/>
                </a:solidFill>
              </a:rPr>
              <a:t>UNIT
</a:t>
            </a:r>
            <a:r>
              <a:rPr sz="1700">
                <a:solidFill>
                  <a:srgbClr val="1E293B"/>
                </a:solidFill>
              </a:rPr>
              <a:t>Authentication, token verification, unique CMP-ID generators</a:t>
            </a:r>
          </a:p>
          <a:p>
            <a:pPr>
              <a:spcBef>
                <a:spcPts val="1000"/>
              </a:spcBef>
            </a:pPr>
            <a:r>
              <a:rPr b="1" sz="1900">
                <a:solidFill>
                  <a:srgbClr val="2563EB"/>
                </a:solidFill>
              </a:rPr>
              <a:t>BASIS PATH
</a:t>
            </a:r>
            <a:r>
              <a:rPr sz="1700">
                <a:solidFill>
                  <a:srgbClr val="1E293B"/>
                </a:solidFill>
              </a:rPr>
              <a:t>Cyclomatic Complexity V(G) = 11 covering all legal &amp; illegal FSM branches</a:t>
            </a:r>
          </a:p>
          <a:p>
            <a:pPr>
              <a:spcBef>
                <a:spcPts val="1000"/>
              </a:spcBef>
            </a:pPr>
            <a:r>
              <a:rPr b="1" sz="1900">
                <a:solidFill>
                  <a:srgbClr val="2563EB"/>
                </a:solidFill>
              </a:rPr>
              <a:t>ROLE ACCESS
</a:t>
            </a:r>
            <a:r>
              <a:rPr sz="1700">
                <a:solidFill>
                  <a:srgbClr val="1E293B"/>
                </a:solidFill>
              </a:rPr>
              <a:t>Student tokens strictly barred from admin endpoints (HTTP 403 Forbidden)</a:t>
            </a:r>
          </a:p>
          <a:p>
            <a:pPr>
              <a:spcBef>
                <a:spcPts val="1000"/>
              </a:spcBef>
            </a:pPr>
            <a:r>
              <a:rPr b="1" sz="1900">
                <a:solidFill>
                  <a:srgbClr val="2563EB"/>
                </a:solidFill>
              </a:rPr>
              <a:t>INTEGRATION
</a:t>
            </a:r>
            <a:r>
              <a:rPr sz="1700">
                <a:solidFill>
                  <a:srgbClr val="1E293B"/>
                </a:solidFill>
              </a:rPr>
              <a:t>End-to-end browser workflows automated and validated with Playwright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371600"/>
            <a:ext cx="521208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0F172A"/>
                </a:solidFill>
                <a:latin typeface="Calibri"/>
              </a:defRPr>
            </a:pPr>
            <a:r>
              <a:t>Key Verification Scenarios</a:t>
            </a:r>
          </a:p>
          <a:p>
            <a:pPr>
              <a:spcBef>
                <a:spcPts val="1400"/>
              </a:spcBef>
            </a:pPr>
            <a:r>
              <a:rPr b="1" sz="1900">
                <a:solidFill>
                  <a:srgbClr val="0F172A"/>
                </a:solidFill>
              </a:rPr>
              <a:t>• TC-01 | Administrator Authentication
</a:t>
            </a:r>
            <a:r>
              <a:rPr sz="1700">
                <a:solidFill>
                  <a:srgbClr val="475569"/>
                </a:solidFill>
              </a:rPr>
              <a:t>   Endpoint: POST /api/auth/login
</a:t>
            </a:r>
            <a:r>
              <a:rPr sz="1700">
                <a:solidFill>
                  <a:srgbClr val="1E293B"/>
                </a:solidFill>
              </a:rPr>
              <a:t>   Result: HTTP 200; Valid JWT token issued; Admin authorized
</a:t>
            </a:r>
            <a:r>
              <a:rPr b="1" sz="1700">
                <a:solidFill>
                  <a:srgbClr val="0F172A"/>
                </a:solidFill>
              </a:rPr>
              <a:t>   Status: </a:t>
            </a:r>
            <a:r>
              <a:rPr b="1" sz="1800">
                <a:solidFill>
                  <a:srgbClr val="15803D"/>
                </a:solidFill>
              </a:rPr>
              <a:t>PASS</a:t>
            </a:r>
          </a:p>
          <a:p>
            <a:pPr>
              <a:spcBef>
                <a:spcPts val="1400"/>
              </a:spcBef>
            </a:pPr>
            <a:r>
              <a:rPr b="1" sz="1900">
                <a:solidFill>
                  <a:srgbClr val="0F172A"/>
                </a:solidFill>
              </a:rPr>
              <a:t>• TC-04 | Illegal Transition Protection
</a:t>
            </a:r>
            <a:r>
              <a:rPr sz="1700">
                <a:solidFill>
                  <a:srgbClr val="475569"/>
                </a:solidFill>
              </a:rPr>
              <a:t>   Endpoint: PUT /api/complaints/:id/status
</a:t>
            </a:r>
            <a:r>
              <a:rPr sz="1700">
                <a:solidFill>
                  <a:srgbClr val="1E293B"/>
                </a:solidFill>
              </a:rPr>
              <a:t>   Result: HTTP 400 Bad Request; FSM validator blocks NEW → CLOSED jump
</a:t>
            </a:r>
            <a:r>
              <a:rPr b="1" sz="1700">
                <a:solidFill>
                  <a:srgbClr val="0F172A"/>
                </a:solidFill>
              </a:rPr>
              <a:t>   Status: </a:t>
            </a:r>
            <a:r>
              <a:rPr b="1" sz="1800">
                <a:solidFill>
                  <a:srgbClr val="15803D"/>
                </a:solidFill>
              </a:rPr>
              <a:t>PASS</a:t>
            </a:r>
          </a:p>
          <a:p>
            <a:pPr>
              <a:spcBef>
                <a:spcPts val="1400"/>
              </a:spcBef>
            </a:pPr>
            <a:r>
              <a:rPr b="1" sz="1900">
                <a:solidFill>
                  <a:srgbClr val="0F172A"/>
                </a:solidFill>
              </a:rPr>
              <a:t>• TC-05 | RBAC Route Authorization
</a:t>
            </a:r>
            <a:r>
              <a:rPr sz="1700">
                <a:solidFill>
                  <a:srgbClr val="475569"/>
                </a:solidFill>
              </a:rPr>
              <a:t>   Endpoint: POST /api/complaints/:id/assign
</a:t>
            </a:r>
            <a:r>
              <a:rPr sz="1700">
                <a:solidFill>
                  <a:srgbClr val="1E293B"/>
                </a:solidFill>
              </a:rPr>
              <a:t>   Result: HTTP 403 Forbidden; Non-admin role barred from assignment API
</a:t>
            </a:r>
            <a:r>
              <a:rPr b="1" sz="1700">
                <a:solidFill>
                  <a:srgbClr val="0F172A"/>
                </a:solidFill>
              </a:rPr>
              <a:t>   Status: </a:t>
            </a:r>
            <a:r>
              <a:rPr b="1" sz="1800">
                <a:solidFill>
                  <a:srgbClr val="15803D"/>
                </a:solidFill>
              </a:rPr>
              <a:t>PASS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4048"/>
            <a:ext cx="1036289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09 —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58368"/>
            <a:ext cx="1036289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Project Achievements &amp; Future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263640"/>
            <a:ext cx="103628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336792"/>
            <a:ext cx="7772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475569"/>
                </a:solidFill>
                <a:latin typeface="Calibri"/>
              </a:defRPr>
            </a:pPr>
            <a:r>
              <a:t>Campus Complaint &amp; Maintenance Management System  |  Software Engineering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336792"/>
            <a:ext cx="2590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500" b="1">
                <a:solidFill>
                  <a:srgbClr val="2563EB"/>
                </a:solidFill>
                <a:latin typeface="Calibri"/>
              </a:defRPr>
            </a:pPr>
            <a:r>
              <a:t>Slide 10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362895" cy="2194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0F172A"/>
                </a:solidFill>
                <a:latin typeface="Calibri"/>
              </a:defRPr>
            </a:pPr>
            <a:r>
              <a:t>What We Achieved</a:t>
            </a:r>
          </a:p>
          <a:p>
            <a:pPr>
              <a:spcBef>
                <a:spcPts val="600"/>
              </a:spcBef>
            </a:pPr>
            <a:r>
              <a:rPr b="1" sz="1900">
                <a:solidFill>
                  <a:srgbClr val="15803D"/>
                </a:solidFill>
              </a:rPr>
              <a:t>✓ Digital Complaint Management: </a:t>
            </a:r>
            <a:r>
              <a:rPr sz="1800">
                <a:solidFill>
                  <a:srgbClr val="1E293B"/>
                </a:solidFill>
              </a:rPr>
              <a:t>Replaced error-prone manual logbooks with a 24/7 web-based grievance ecosystem.</a:t>
            </a:r>
          </a:p>
          <a:p>
            <a:pPr>
              <a:spcBef>
                <a:spcPts val="600"/>
              </a:spcBef>
            </a:pPr>
            <a:r>
              <a:rPr b="1" sz="1900">
                <a:solidFill>
                  <a:srgbClr val="15803D"/>
                </a:solidFill>
              </a:rPr>
              <a:t>✓ Role-Based Access Control: </a:t>
            </a:r>
            <a:r>
              <a:rPr sz="1800">
                <a:solidFill>
                  <a:srgbClr val="1E293B"/>
                </a:solidFill>
              </a:rPr>
              <a:t>Enforced strict privilege separation across Student, Faculty, Staff, and Administrator.</a:t>
            </a:r>
          </a:p>
          <a:p>
            <a:pPr>
              <a:spcBef>
                <a:spcPts val="600"/>
              </a:spcBef>
            </a:pPr>
            <a:r>
              <a:rPr b="1" sz="1900">
                <a:solidFill>
                  <a:srgbClr val="15803D"/>
                </a:solidFill>
              </a:rPr>
              <a:t>✓ Controlled Complaint Lifecycle: </a:t>
            </a:r>
            <a:r>
              <a:rPr sz="1800">
                <a:solidFill>
                  <a:srgbClr val="1E293B"/>
                </a:solidFill>
              </a:rPr>
              <a:t>Server-side Finite State Machine preventing illegal state jumps and unauthorized closures.</a:t>
            </a:r>
          </a:p>
          <a:p>
            <a:pPr>
              <a:spcBef>
                <a:spcPts val="600"/>
              </a:spcBef>
            </a:pPr>
            <a:r>
              <a:rPr b="1" sz="1900">
                <a:solidFill>
                  <a:srgbClr val="15803D"/>
                </a:solidFill>
              </a:rPr>
              <a:t>✓ Complete Audit Trail: </a:t>
            </a:r>
            <a:r>
              <a:rPr sz="1800">
                <a:solidFill>
                  <a:srgbClr val="1E293B"/>
                </a:solidFill>
              </a:rPr>
              <a:t>Immutable update history logging operator IDs, remarks, and timestamps for full governance.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362895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b="1" sz="1900">
                <a:solidFill>
                  <a:srgbClr val="0F172A"/>
                </a:solidFill>
              </a:rPr>
              <a:t>CURRENT SYSTEM (Core Web Platform)   </a:t>
            </a:r>
            <a:r>
              <a:rPr b="1" sz="2000">
                <a:solidFill>
                  <a:srgbClr val="2563EB"/>
                </a:solidFill>
              </a:rPr>
              <a:t>────────────►   </a:t>
            </a:r>
            <a:r>
              <a:rPr b="1" sz="1900">
                <a:solidFill>
                  <a:srgbClr val="2563EB"/>
                </a:solidFill>
              </a:rPr>
              <a:t>FUTURE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362895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800">
                <a:solidFill>
                  <a:srgbClr val="1E293B"/>
                </a:solidFill>
                <a:latin typeface="Calibri"/>
              </a:defRPr>
            </a:pPr>
            <a:r>
              <a:t>• Email / SMS Alerts: Automated push notifications via Nodemailer (SMTP) and Twilio (SMS).</a:t>
            </a:r>
          </a:p>
          <a:p>
            <a:pPr>
              <a:spcBef>
                <a:spcPts val="400"/>
              </a:spcBef>
              <a:defRPr sz="1800">
                <a:solidFill>
                  <a:srgbClr val="1E293B"/>
                </a:solidFill>
                <a:latin typeface="Calibri"/>
              </a:defRPr>
            </a:pPr>
            <a:r>
              <a:t>• Cloud Object Storage: Migration of uploaded complaint photos from local disk to Amazon S3.</a:t>
            </a:r>
          </a:p>
          <a:p>
            <a:pPr>
              <a:spcBef>
                <a:spcPts val="400"/>
              </a:spcBef>
              <a:defRPr sz="1800">
                <a:solidFill>
                  <a:srgbClr val="1E293B"/>
                </a:solidFill>
                <a:latin typeface="Calibri"/>
              </a:defRPr>
            </a:pPr>
            <a:r>
              <a:t>• Native Mobile Client: Cross-platform iOS/Android app built using React Native.</a:t>
            </a:r>
          </a:p>
          <a:p>
            <a:pPr>
              <a:spcBef>
                <a:spcPts val="400"/>
              </a:spcBef>
              <a:defRPr sz="1800">
                <a:solidFill>
                  <a:srgbClr val="1E293B"/>
                </a:solidFill>
                <a:latin typeface="Calibri"/>
              </a:defRPr>
            </a:pPr>
            <a:r>
              <a:t>• Automated Task Dispatch: AI-driven technician assignment based on active workload and trade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62895" cy="5486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2600" b="1">
                <a:solidFill>
                  <a:srgbClr val="0F172A"/>
                </a:solidFill>
                <a:latin typeface="Calibri"/>
              </a:defRPr>
            </a:pPr>
            <a:r>
              <a:t>Thank You  |  Questions &amp; Answers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