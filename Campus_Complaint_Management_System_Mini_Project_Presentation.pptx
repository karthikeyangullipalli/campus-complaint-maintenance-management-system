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88720"/>
            <a:ext cx="109728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3327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563EB"/>
                </a:solidFill>
                <a:latin typeface="Arial"/>
              </a:defRPr>
            </a:pPr>
            <a:r>
              <a:t>23CS4219 — SOFTWARE ENGINEERING LABORATORY</a:t>
            </a:r>
          </a:p>
          <a:p>
            <a:pPr>
              <a:spcAft>
                <a:spcPts val="1000"/>
              </a:spcAft>
              <a:defRPr sz="3600" b="1">
                <a:solidFill>
                  <a:srgbClr val="0F172A"/>
                </a:solidFill>
                <a:latin typeface="Arial"/>
              </a:defRPr>
            </a:pPr>
            <a:r>
              <a:t>Campus Complaint &amp; Maintenance</a:t>
            </a:r>
            <a:br/>
            <a:r>
              <a:t>Management System</a:t>
            </a:r>
          </a:p>
          <a:p>
            <a:pPr>
              <a:spcAft>
                <a:spcPts val="2600"/>
              </a:spcAft>
              <a:defRPr sz="2200">
                <a:solidFill>
                  <a:srgbClr val="475569"/>
                </a:solidFill>
                <a:latin typeface="Arial"/>
              </a:defRPr>
            </a:pPr>
            <a:r>
              <a:t>A Role-Based Full-Stack Web Application for Institutional Facility Grievance Tracking</a:t>
            </a:r>
          </a:p>
          <a:p>
            <a:pPr>
              <a:spcAft>
                <a:spcPts val="2400"/>
              </a:spcAft>
            </a:pPr>
            <a:r>
              <a:rPr b="1" sz="1800">
                <a:solidFill>
                  <a:srgbClr val="0F172A"/>
                </a:solidFill>
              </a:rPr>
              <a:t>CORE WORKFLOW:  </a:t>
            </a:r>
            <a:r>
              <a:rPr sz="1800">
                <a:solidFill>
                  <a:srgbClr val="2563EB"/>
                </a:solidFill>
              </a:rPr>
              <a:t>Student Grievance Lodging  →  Administrative Triage  →  Technician Work Orders  →  Audited Resolution</a:t>
            </a:r>
          </a:p>
          <a:p>
            <a:pPr>
              <a:spcBef>
                <a:spcPts val="400"/>
              </a:spcBef>
            </a:pPr>
            <a:r>
              <a:rPr b="1" sz="1900">
                <a:solidFill>
                  <a:srgbClr val="0F172A"/>
                </a:solidFill>
              </a:rPr>
              <a:t>Student Name:    </a:t>
            </a:r>
            <a:r>
              <a:rPr sz="1900">
                <a:solidFill>
                  <a:srgbClr val="1E293B"/>
                </a:solidFill>
              </a:rPr>
              <a:t>Karthikeyan Gullipalli (Roll No: [ROLL NUMBER])</a:t>
            </a:r>
          </a:p>
          <a:p>
            <a:pPr>
              <a:spcBef>
                <a:spcPts val="400"/>
              </a:spcBef>
            </a:pPr>
            <a:r>
              <a:rPr b="1" sz="1900">
                <a:solidFill>
                  <a:srgbClr val="0F172A"/>
                </a:solidFill>
              </a:rPr>
              <a:t>Course &amp; Dept:   </a:t>
            </a:r>
            <a:r>
              <a:rPr sz="1900">
                <a:solidFill>
                  <a:srgbClr val="1E293B"/>
                </a:solidFill>
              </a:rPr>
              <a:t>B.Tech CSE  |  Department of Computer Science and Engineering</a:t>
            </a:r>
          </a:p>
          <a:p>
            <a:pPr>
              <a:spcBef>
                <a:spcPts val="400"/>
              </a:spcBef>
            </a:pPr>
            <a:r>
              <a:rPr b="1" sz="1900">
                <a:solidFill>
                  <a:srgbClr val="0F172A"/>
                </a:solidFill>
              </a:rPr>
              <a:t>Institution:     </a:t>
            </a:r>
            <a:r>
              <a:rPr sz="1900">
                <a:solidFill>
                  <a:srgbClr val="1E293B"/>
                </a:solidFill>
              </a:rPr>
              <a:t>Anil Neerukonda Institute of Technology &amp; Sciences (ANITS)</a:t>
            </a:r>
          </a:p>
          <a:p>
            <a:pPr>
              <a:spcBef>
                <a:spcPts val="400"/>
              </a:spcBef>
            </a:pPr>
            <a:r>
              <a:rPr b="1" sz="1900">
                <a:solidFill>
                  <a:srgbClr val="0F172A"/>
                </a:solidFill>
              </a:rPr>
              <a:t>Faculty Guide:   </a:t>
            </a:r>
            <a:r>
              <a:rPr sz="1900">
                <a:solidFill>
                  <a:srgbClr val="1E293B"/>
                </a:solidFill>
              </a:rPr>
              <a:t>[GUIDE NAME]  |  Academic Year: 2024–2025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1. 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Traditional Paper Process vs. Proposed CCMS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2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B91C1C"/>
                </a:solidFill>
                <a:latin typeface="Arial"/>
              </a:defRPr>
            </a:pPr>
            <a:r>
              <a:t>Traditional Process (Manual)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4389120" cy="5486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B91C1C"/>
                </a:solidFill>
                <a:latin typeface="Arial"/>
              </a:defRPr>
            </a:pPr>
            <a:r>
              <a:t>Paper Register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34640" y="2350008"/>
            <a:ext cx="182880" cy="27432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4389120" cy="5486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B91C1C"/>
                </a:solidFill>
                <a:latin typeface="Arial"/>
              </a:defRPr>
            </a:pPr>
            <a:r>
              <a:t>Physical Counter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834640" y="3218688"/>
            <a:ext cx="182880" cy="27432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4389120" cy="5486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B91C1C"/>
                </a:solidFill>
                <a:latin typeface="Arial"/>
              </a:defRPr>
            </a:pPr>
            <a:r>
              <a:t>Verbal Work Order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34640" y="4087368"/>
            <a:ext cx="182880" cy="27432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4389120" cy="54864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B91C1C"/>
                </a:solidFill>
                <a:latin typeface="Arial"/>
              </a:defRPr>
            </a:pPr>
            <a:r>
              <a:t>No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280160"/>
            <a:ext cx="5212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15803D"/>
                </a:solidFill>
                <a:latin typeface="Arial"/>
              </a:defRPr>
            </a:pPr>
            <a:r>
              <a:t>Proposed System (CCMS Web Portal)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5212080" cy="47548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803D"/>
                </a:solidFill>
                <a:latin typeface="Arial"/>
              </a:defRPr>
            </a:pPr>
            <a:r>
              <a:t>Web Portal (24/7 Access)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32520" y="2267712"/>
            <a:ext cx="164592" cy="18288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459736"/>
            <a:ext cx="5212080" cy="47548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803D"/>
                </a:solidFill>
                <a:latin typeface="Arial"/>
              </a:defRPr>
            </a:pPr>
            <a:r>
              <a:t>Admin Verification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32520" y="2944368"/>
            <a:ext cx="164592" cy="18288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136391"/>
            <a:ext cx="5212080" cy="47548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803D"/>
                </a:solidFill>
                <a:latin typeface="Arial"/>
              </a:defRPr>
            </a:pPr>
            <a:r>
              <a:t>Staff Assignment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732520" y="3621024"/>
            <a:ext cx="164592" cy="18288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13048"/>
            <a:ext cx="5212080" cy="47548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803D"/>
                </a:solidFill>
                <a:latin typeface="Arial"/>
              </a:defRPr>
            </a:pPr>
            <a:r>
              <a:t>Status Tracking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8732520" y="4297680"/>
            <a:ext cx="164592" cy="182880"/>
          </a:xfrm>
          <a:prstGeom prst="down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489704"/>
            <a:ext cx="5212080" cy="475488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5803D"/>
                </a:solidFill>
                <a:latin typeface="Arial"/>
              </a:defRPr>
            </a:pPr>
            <a:r>
              <a:t>Resolution &amp; Feedback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10728655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000">
                <a:solidFill>
                  <a:srgbClr val="0F172A"/>
                </a:solidFill>
              </a:rPr>
              <a:t>Core Bottlenecks Eliminated:   </a:t>
            </a:r>
            <a:r>
              <a:rPr b="1" sz="2000">
                <a:solidFill>
                  <a:srgbClr val="B91C1C"/>
                </a:solidFill>
              </a:rPr>
              <a:t>No Tracking  →  No Accountability  →  No Centralized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2. SOFTWARE ENGINEERING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SDLC Progression &amp; Requirements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3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554480" cy="5943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Requirements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31720" y="1508760"/>
            <a:ext cx="18288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325880"/>
            <a:ext cx="1554480" cy="5943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60520" y="1508760"/>
            <a:ext cx="18288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1554480" cy="5943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9320" y="1508760"/>
            <a:ext cx="18288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1554480" cy="5943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Security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18120" y="1508760"/>
            <a:ext cx="18288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1554480" cy="5943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Testing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46920" y="1508760"/>
            <a:ext cx="18288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0" y="1325880"/>
            <a:ext cx="1584655" cy="5943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Maintenance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194560"/>
            <a:ext cx="1072865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Requirement → Implementation Traceability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10728655" cy="3383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b="1" sz="2000">
                <a:solidFill>
                  <a:srgbClr val="2563EB"/>
                </a:solidFill>
              </a:rPr>
              <a:t>• Secure Access             </a:t>
            </a:r>
            <a:r>
              <a:rPr b="1" sz="2000">
                <a:solidFill>
                  <a:srgbClr val="0F172A"/>
                </a:solidFill>
              </a:rPr>
              <a:t>→   </a:t>
            </a:r>
            <a:r>
              <a:rPr sz="2000">
                <a:solidFill>
                  <a:srgbClr val="1E293B"/>
                </a:solidFill>
              </a:rPr>
              <a:t>Stateless JWT authentication + bcryptjs hashing + verifyToken middleware</a:t>
            </a:r>
          </a:p>
          <a:p>
            <a:pPr>
              <a:spcBef>
                <a:spcPts val="1000"/>
              </a:spcBef>
            </a:pPr>
            <a:r>
              <a:rPr b="1" sz="2000">
                <a:solidFill>
                  <a:srgbClr val="2563EB"/>
                </a:solidFill>
              </a:rPr>
              <a:t>• Complaint Lodging         </a:t>
            </a:r>
            <a:r>
              <a:rPr b="1" sz="2000">
                <a:solidFill>
                  <a:srgbClr val="0F172A"/>
                </a:solidFill>
              </a:rPr>
              <a:t>→   </a:t>
            </a:r>
            <a:r>
              <a:rPr sz="2000">
                <a:solidFill>
                  <a:srgbClr val="1E293B"/>
                </a:solidFill>
              </a:rPr>
              <a:t>Dynamic React form + campus category &amp; room mapping + Multer photo upload</a:t>
            </a:r>
          </a:p>
          <a:p>
            <a:pPr>
              <a:spcBef>
                <a:spcPts val="1000"/>
              </a:spcBef>
            </a:pPr>
            <a:r>
              <a:rPr b="1" sz="2000">
                <a:solidFill>
                  <a:srgbClr val="2563EB"/>
                </a:solidFill>
              </a:rPr>
              <a:t>• Admin Control             </a:t>
            </a:r>
            <a:r>
              <a:rPr b="1" sz="2000">
                <a:solidFill>
                  <a:srgbClr val="0F172A"/>
                </a:solidFill>
              </a:rPr>
              <a:t>→   </a:t>
            </a:r>
            <a:r>
              <a:rPr sz="2000">
                <a:solidFill>
                  <a:srgbClr val="1E293B"/>
                </a:solidFill>
              </a:rPr>
              <a:t>Centralized administrative dashboard with status filters + staff assignment</a:t>
            </a:r>
          </a:p>
          <a:p>
            <a:pPr>
              <a:spcBef>
                <a:spcPts val="1000"/>
              </a:spcBef>
            </a:pPr>
            <a:r>
              <a:rPr b="1" sz="2000">
                <a:solidFill>
                  <a:srgbClr val="2563EB"/>
                </a:solidFill>
              </a:rPr>
              <a:t>• Audited Lifecycle         </a:t>
            </a:r>
            <a:r>
              <a:rPr b="1" sz="2000">
                <a:solidFill>
                  <a:srgbClr val="0F172A"/>
                </a:solidFill>
              </a:rPr>
              <a:t>→   </a:t>
            </a:r>
            <a:r>
              <a:rPr sz="2000">
                <a:solidFill>
                  <a:srgbClr val="1E293B"/>
                </a:solidFill>
              </a:rPr>
              <a:t>Strict server-side Finite State Machine validator + immutable complaint_updates log</a:t>
            </a:r>
          </a:p>
          <a:p>
            <a:pPr>
              <a:spcBef>
                <a:spcPts val="1000"/>
              </a:spcBef>
            </a:pPr>
            <a:r>
              <a:rPr b="1" sz="2000">
                <a:solidFill>
                  <a:srgbClr val="2563EB"/>
                </a:solidFill>
              </a:rPr>
              <a:t>• Technician Execution      </a:t>
            </a:r>
            <a:r>
              <a:rPr b="1" sz="2000">
                <a:solidFill>
                  <a:srgbClr val="0F172A"/>
                </a:solidFill>
              </a:rPr>
              <a:t>→   </a:t>
            </a:r>
            <a:r>
              <a:rPr sz="2000">
                <a:solidFill>
                  <a:srgbClr val="1E293B"/>
                </a:solidFill>
              </a:rPr>
              <a:t>Dedicated work order queue with real-time status progression (IN_PROGRESS → RESOLVED)</a:t>
            </a:r>
          </a:p>
          <a:p>
            <a:pPr>
              <a:spcBef>
                <a:spcPts val="1000"/>
              </a:spcBef>
            </a:pPr>
            <a:r>
              <a:rPr b="1" sz="2000">
                <a:solidFill>
                  <a:srgbClr val="2563EB"/>
                </a:solidFill>
              </a:rPr>
              <a:t>• Quality Feedback          </a:t>
            </a:r>
            <a:r>
              <a:rPr b="1" sz="2000">
                <a:solidFill>
                  <a:srgbClr val="0F172A"/>
                </a:solidFill>
              </a:rPr>
              <a:t>→   </a:t>
            </a:r>
            <a:r>
              <a:rPr sz="2000">
                <a:solidFill>
                  <a:srgbClr val="1E293B"/>
                </a:solidFill>
              </a:rPr>
              <a:t>Post-resolution 1 to 5 star rating submission + reopening mechanism for recurring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3.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Decoupled 3-Tier Layered Architecture with Stateless API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4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5669280" cy="530352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Student  •  Faculty  •  Admin  •  Maintenance Staff</a:t>
            </a:r>
          </a:p>
        </p:txBody>
      </p:sp>
      <p:sp>
        <p:nvSpPr>
          <p:cNvPr id="8" name="Down Arrow 7"/>
          <p:cNvSpPr/>
          <p:nvPr/>
        </p:nvSpPr>
        <p:spPr>
          <a:xfrm>
            <a:off x="3474720" y="1874519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21408"/>
            <a:ext cx="5669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React 18 + Vite Frontend (SPA)</a:t>
            </a:r>
            <a:br/>
            <a:r>
              <a:t>Component Hierarchy • Tailwind CSS • Axios Client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474720" y="2798064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044952"/>
            <a:ext cx="5669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Node.js + Express REST API</a:t>
            </a:r>
            <a:br/>
            <a:r>
              <a:t>Authentication • Validation • Multer Upload • State Machine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3474720" y="3721608"/>
            <a:ext cx="182880" cy="22860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68496"/>
            <a:ext cx="5669280" cy="658368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MySQL 8 Relational Database (ccms_db)</a:t>
            </a:r>
            <a:br/>
            <a:r>
              <a:t>7 Normalized 3NF Tables • InnoDB Engine • Connection Pool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044952"/>
            <a:ext cx="1920240" cy="658368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  <a:latin typeface="Arial"/>
              </a:defRPr>
            </a:pPr>
            <a:r>
              <a:t>JWT Auth Sideflow</a:t>
            </a:r>
            <a:br/>
            <a:r>
              <a:t>verifyToken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25880"/>
            <a:ext cx="47850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Key Architectural Principles</a:t>
            </a:r>
          </a:p>
          <a:p>
            <a:pPr>
              <a:spcBef>
                <a:spcPts val="1400"/>
              </a:spcBef>
            </a:pPr>
            <a:r>
              <a:rPr b="1" sz="2100">
                <a:solidFill>
                  <a:srgbClr val="2563EB"/>
                </a:solidFill>
              </a:rPr>
              <a:t>• Separation of Concerns
</a:t>
            </a:r>
            <a:r>
              <a:rPr sz="1900">
                <a:solidFill>
                  <a:srgbClr val="1E293B"/>
                </a:solidFill>
              </a:rPr>
              <a:t>Presentation layer is strictly decoupled from storage. The client never accesses MySQL directly; all operations are governed by validated REST endpoints.</a:t>
            </a:r>
          </a:p>
          <a:p>
            <a:pPr>
              <a:spcBef>
                <a:spcPts val="1400"/>
              </a:spcBef>
            </a:pPr>
            <a:r>
              <a:rPr b="1" sz="2100">
                <a:solidFill>
                  <a:srgbClr val="2563EB"/>
                </a:solidFill>
              </a:rPr>
              <a:t>• Stateless JWT Authorization
</a:t>
            </a:r>
            <a:r>
              <a:rPr sz="1900">
                <a:solidFill>
                  <a:srgbClr val="1E293B"/>
                </a:solidFill>
              </a:rPr>
              <a:t>Eliminates server session storage. Each request carries a signed HS256 Bearer token, enabling horizontal scaling and high concurrency.</a:t>
            </a:r>
          </a:p>
          <a:p>
            <a:pPr>
              <a:spcBef>
                <a:spcPts val="1400"/>
              </a:spcBef>
            </a:pPr>
            <a:r>
              <a:rPr b="1" sz="2100">
                <a:solidFill>
                  <a:srgbClr val="2563EB"/>
                </a:solidFill>
              </a:rPr>
              <a:t>• Relational Integrity &amp; ACID
</a:t>
            </a:r>
            <a:r>
              <a:rPr sz="1900">
                <a:solidFill>
                  <a:srgbClr val="1E293B"/>
                </a:solidFill>
              </a:rPr>
              <a:t>Normalized schema with foreign key constraints, atomic transactions, and parameterized SQL queries eliminating SQL injection risks.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4. COMPLAINT WORKFLOW &amp;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Finite State Machine Enforcing Audited Status Progression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5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28016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NEW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84832" y="1664208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146304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VERIFIED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5072" y="1664208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146304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ASSIGNED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25312" y="1664208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164592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IN PROGRESS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28432" y="1664208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463040"/>
            <a:ext cx="1463040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RESOLVED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948672" y="1664208"/>
            <a:ext cx="219456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32720" y="1463040"/>
            <a:ext cx="1127455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CLOSED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423160"/>
            <a:ext cx="2011680" cy="50292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B91C1C"/>
                </a:solidFill>
                <a:latin typeface="Arial"/>
              </a:defRPr>
            </a:pPr>
            <a:r>
              <a:t>REJECTED (Invalid)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383280" y="2121408"/>
            <a:ext cx="164592" cy="274320"/>
          </a:xfrm>
          <a:prstGeom prst="downArrow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2423160"/>
            <a:ext cx="2041855" cy="50292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B45309"/>
                </a:solidFill>
                <a:latin typeface="Arial"/>
              </a:defRPr>
            </a:pPr>
            <a:r>
              <a:t>REOPENED (Persistent)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0332720" y="2121408"/>
            <a:ext cx="164592" cy="27432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337560"/>
            <a:ext cx="3392424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3026664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Arial"/>
              </a:defRPr>
            </a:pPr>
            <a:r>
              <a:t>Student / Faculty</a:t>
            </a:r>
          </a:p>
          <a:p>
            <a:pPr>
              <a:spcBef>
                <a:spcPts val="400"/>
              </a:spcBef>
              <a:defRPr sz="1900" b="1">
                <a:solidFill>
                  <a:srgbClr val="0F172A"/>
                </a:solidFill>
                <a:latin typeface="Arial"/>
              </a:defRPr>
            </a:pPr>
            <a:r>
              <a:t>Submit  →  Track  →  Rate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Lodges complaint with campus building &amp; room.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Attaches optional photographic evidence.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Monitors real-time status progression.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Submits 1–5 star rating upon resolution.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8264" y="3337560"/>
            <a:ext cx="3392424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1144" y="3474720"/>
            <a:ext cx="3026664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Administrator</a:t>
            </a:r>
          </a:p>
          <a:p>
            <a:pPr>
              <a:spcBef>
                <a:spcPts val="400"/>
              </a:spcBef>
              <a:defRPr sz="1900" b="1">
                <a:solidFill>
                  <a:srgbClr val="0F172A"/>
                </a:solidFill>
                <a:latin typeface="Arial"/>
              </a:defRPr>
            </a:pPr>
            <a:r>
              <a:t>Verify  →  Assign  →  Close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Reviews complaint details and authenticity.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Accepts (VERIFIED) or dismisses (REJECTED).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Assigns task to active technician.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Reviews repair notes &amp; confirms closure.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3337560"/>
            <a:ext cx="3392424" cy="256032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474720"/>
            <a:ext cx="3026664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5803D"/>
                </a:solidFill>
                <a:latin typeface="Arial"/>
              </a:defRPr>
            </a:pPr>
            <a:r>
              <a:t>Maintenance Staff</a:t>
            </a:r>
          </a:p>
          <a:p>
            <a:pPr>
              <a:spcBef>
                <a:spcPts val="400"/>
              </a:spcBef>
              <a:defRPr sz="1900" b="1">
                <a:solidFill>
                  <a:srgbClr val="0F172A"/>
                </a:solidFill>
                <a:latin typeface="Arial"/>
              </a:defRPr>
            </a:pPr>
            <a:r>
              <a:t>Accept  →  Work  →  Resolve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Accesses assigned work orders queue.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Begins physical remediation (IN PROGRESS).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Logs diagnostic &amp; repair remarks.</a:t>
            </a:r>
          </a:p>
          <a:p>
            <a:pPr>
              <a:spcBef>
                <a:spcPts val="5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• Marks complaint successfully RESOLVED.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5. MAJOR MODULES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Functional System Modules &amp; Production Software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6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System Functional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5029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Authentication &amp; RBAC</a:t>
            </a:r>
            <a:br/>
            <a:r>
              <a:t>(Registration, login, JWT token issuance, and role access guards)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54680" y="2368296"/>
            <a:ext cx="182880" cy="25603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5029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Complaint Lodging</a:t>
            </a:r>
            <a:br/>
            <a:r>
              <a:t>(Dynamic React form, category/room selection, Multer file upload)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154680" y="3236976"/>
            <a:ext cx="182880" cy="25603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20439"/>
            <a:ext cx="5029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Admin Control Center</a:t>
            </a:r>
            <a:br/>
            <a:r>
              <a:t>(Campus-wide triage, status filters, staff assignment interface)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54680" y="4105655"/>
            <a:ext cx="182880" cy="25603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5029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Maintenance Work Orders</a:t>
            </a:r>
            <a:br/>
            <a:r>
              <a:t>(Technician task queue, work commencement, resolution remarks)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54680" y="4974336"/>
            <a:ext cx="182880" cy="256032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257800"/>
            <a:ext cx="50292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Audit History &amp; Feedback</a:t>
            </a:r>
            <a:br/>
            <a:r>
              <a:t>(Append-only status history in complaint_updates + student rating)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280160"/>
            <a:ext cx="521208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t>Production Technology Stack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5242255" cy="8686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19"/>
            <a:ext cx="487649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Frontend Tier</a:t>
            </a:r>
          </a:p>
          <a:p>
            <a:pPr>
              <a:spcBef>
                <a:spcPts val="400"/>
              </a:spcBef>
              <a:defRPr sz="1900">
                <a:solidFill>
                  <a:srgbClr val="2563EB"/>
                </a:solidFill>
                <a:latin typeface="Arial"/>
              </a:defRPr>
            </a:pPr>
            <a:r>
              <a:t>React 18  •  Vite 5  •  Tailwind CSS  •  Axios  •  React Router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62072"/>
            <a:ext cx="5242255" cy="8686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53512"/>
            <a:ext cx="487649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Backend Tier</a:t>
            </a:r>
          </a:p>
          <a:p>
            <a:pPr>
              <a:spcBef>
                <a:spcPts val="400"/>
              </a:spcBef>
              <a:defRPr sz="1900">
                <a:solidFill>
                  <a:srgbClr val="2563EB"/>
                </a:solidFill>
                <a:latin typeface="Arial"/>
              </a:defRPr>
            </a:pPr>
            <a:r>
              <a:t>Node.js 18 LTS  •  Express 4.19  •  express-validator  •  Multer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941063"/>
            <a:ext cx="5242255" cy="8686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3"/>
            <a:ext cx="487649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Database &amp; Storage</a:t>
            </a:r>
          </a:p>
          <a:p>
            <a:pPr>
              <a:spcBef>
                <a:spcPts val="400"/>
              </a:spcBef>
              <a:defRPr sz="1900">
                <a:solidFill>
                  <a:srgbClr val="2563EB"/>
                </a:solidFill>
                <a:latin typeface="Arial"/>
              </a:defRPr>
            </a:pPr>
            <a:r>
              <a:t>MySQL 8.0  •  mysql2 Connection Pool  •  InnoDB Engine (7 Tables)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5020056"/>
            <a:ext cx="5242255" cy="8686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111496"/>
            <a:ext cx="4876495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Security &amp; Testing</a:t>
            </a:r>
          </a:p>
          <a:p>
            <a:pPr>
              <a:spcBef>
                <a:spcPts val="400"/>
              </a:spcBef>
              <a:defRPr sz="1900">
                <a:solidFill>
                  <a:srgbClr val="2563EB"/>
                </a:solidFill>
                <a:latin typeface="Arial"/>
              </a:defRPr>
            </a:pPr>
            <a:r>
              <a:t>JSON Web Tokens (JWT HS256)  •  bcryptjs (10 rounds)  •  Playwright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6.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Simplified Entity-Relationship Architecture &amp; Data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7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017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USERS</a:t>
            </a:r>
            <a:br/>
            <a:r>
              <a:t>id (PK) • name • email</a:t>
            </a:r>
            <a:br/>
            <a:r>
              <a:t>role • department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86200" y="1783080"/>
            <a:ext cx="3200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413455" cy="1051560"/>
          </a:xfrm>
          <a:prstGeom prst="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COMPLAINTS (Core Entity)</a:t>
            </a:r>
            <a:br/>
            <a:r>
              <a:t>id (PK) • complaint_number • user_id (FK)</a:t>
            </a:r>
            <a:br/>
            <a:r>
              <a:t>category_id (FK) • location_id (FK) • status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55279" y="1783080"/>
            <a:ext cx="320040" cy="201168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42655" y="1371600"/>
            <a:ext cx="3017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t>LOCATIONS &amp; CATEGORIES</a:t>
            </a:r>
            <a:br/>
            <a:r>
              <a:t>building • floor • room</a:t>
            </a:r>
            <a:br/>
            <a:r>
              <a:t>category_name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2194560" y="2514600"/>
            <a:ext cx="201168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80360"/>
            <a:ext cx="3017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COMPLAINT_ASSIGNMENTS</a:t>
            </a:r>
            <a:br/>
            <a:r>
              <a:t>staff_id (FK) • assigned_by (FK)</a:t>
            </a:r>
            <a:br/>
            <a:r>
              <a:t>assigned_at • notes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9320" y="2514600"/>
            <a:ext cx="201168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880360"/>
            <a:ext cx="34134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COMPLAINT_UPDATES (Audit Log)</a:t>
            </a:r>
            <a:br/>
            <a:r>
              <a:t>old_status • new_status</a:t>
            </a:r>
            <a:br/>
            <a:r>
              <a:t>remarks • updated_by (FK) • created_at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784080" y="2514600"/>
            <a:ext cx="201168" cy="2743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42655" y="2880360"/>
            <a:ext cx="301752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  <a:latin typeface="Arial"/>
              </a:defRPr>
            </a:pPr>
            <a:r>
              <a:t>FEEDBACK</a:t>
            </a:r>
            <a:br/>
            <a:r>
              <a:t>complaint_id (FK) • user_id (FK)</a:t>
            </a:r>
            <a:br/>
            <a:r>
              <a:t>rating (1–5) • comments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51960"/>
            <a:ext cx="3392424" cy="17830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61688"/>
            <a:ext cx="3026664" cy="1563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3NF Normalization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Redundancy eliminated across all tables. Campus buildings, rooms, and issue categories are maintained as independent master entities.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8264" y="4251960"/>
            <a:ext cx="3392424" cy="17830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4361688"/>
            <a:ext cx="3026664" cy="1563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563EB"/>
                </a:solidFill>
                <a:latin typeface="Arial"/>
              </a:defRPr>
            </a:pPr>
            <a:r>
              <a:t>Referential Integrity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Foreign key constraints with ON UPDATE / ON DELETE rules guarantee that tickets and history always map to valid users and rooms.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4251960"/>
            <a:ext cx="3392424" cy="17830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4361688"/>
            <a:ext cx="3026664" cy="156362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15803D"/>
                </a:solidFill>
                <a:latin typeface="Arial"/>
              </a:defRPr>
            </a:pPr>
            <a:r>
              <a:t>Immutable Audit Trail</a:t>
            </a:r>
          </a:p>
          <a:p>
            <a:pPr>
              <a:spcBef>
                <a:spcPts val="6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t>The complaint_updates table operates as an append-only transaction log, recording every status transition with operator IDs and timestamps.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7. APPLICATION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Authentic User Interfaces from the Running CCMS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8 of 10</a:t>
            </a:r>
          </a:p>
        </p:txBody>
      </p:sp>
      <p:pic>
        <p:nvPicPr>
          <p:cNvPr id="7" name="Picture 6" descr="07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12064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663440"/>
            <a:ext cx="512064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1. Administrator Control Center</a:t>
            </a:r>
          </a:p>
          <a:p>
            <a:pPr>
              <a:spcBef>
                <a:spcPts val="400"/>
              </a:spcBef>
              <a:defRPr sz="1900">
                <a:solidFill>
                  <a:srgbClr val="1E293B"/>
                </a:solidFill>
                <a:latin typeface="Arial"/>
              </a:defRPr>
            </a:pPr>
            <a:r>
              <a:t>• Real-Time Campus KPIs: Total, open, resolved, and critical ticket counts.</a:t>
            </a:r>
            <a:br/>
            <a:r>
              <a:t>• Interactive Triage: Instant search, category filters, and verify/reject controls.</a:t>
            </a:r>
          </a:p>
        </p:txBody>
      </p:sp>
      <p:pic>
        <p:nvPicPr>
          <p:cNvPr id="9" name="Picture 8" descr="15_maintenance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35" y="1325880"/>
            <a:ext cx="512064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9535" y="4663440"/>
            <a:ext cx="5120640" cy="1371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5803D"/>
                </a:solidFill>
                <a:latin typeface="Arial"/>
              </a:defRPr>
            </a:pPr>
            <a:r>
              <a:t>2. Technician Work Order Queue</a:t>
            </a:r>
          </a:p>
          <a:p>
            <a:pPr>
              <a:spcBef>
                <a:spcPts val="400"/>
              </a:spcBef>
              <a:defRPr sz="1900">
                <a:solidFill>
                  <a:srgbClr val="1E293B"/>
                </a:solidFill>
                <a:latin typeface="Arial"/>
              </a:defRPr>
            </a:pPr>
            <a:r>
              <a:t>• Room-Level Dispatching: Displays exact campus building, floor, room, and urgency.</a:t>
            </a:r>
            <a:br/>
            <a:r>
              <a:t>• Work Execution: Single-click 'Start Work' and diagnostic resolution remarks submission.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8. TESTING &amp; QUALITY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Rigorous Multi-Level Verification with 100% Pass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9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572000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0F172A"/>
                </a:solidFill>
                <a:latin typeface="Arial"/>
              </a:defRPr>
            </a:pPr>
            <a:r>
              <a:t>Testing Methodology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2563EB"/>
                </a:solidFill>
              </a:rPr>
              <a:t>• Unit Testing:
</a:t>
            </a:r>
            <a:r>
              <a:rPr sz="1900">
                <a:solidFill>
                  <a:srgbClr val="1E293B"/>
                </a:solidFill>
              </a:rPr>
              <a:t>Validated bcrypt password salting, token signing/verification, and unique CMP-ID generators.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2563EB"/>
                </a:solidFill>
              </a:rPr>
              <a:t>• Basis Path Testing:
</a:t>
            </a:r>
            <a:r>
              <a:rPr sz="1900">
                <a:solidFill>
                  <a:srgbClr val="1E293B"/>
                </a:solidFill>
              </a:rPr>
              <a:t>Mapped Cyclomatic Complexity V(G) = 11 for statusController.js; validated all legal and illegal transition paths.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2563EB"/>
                </a:solidFill>
              </a:rPr>
              <a:t>• Role Access Testing:
</a:t>
            </a:r>
            <a:r>
              <a:rPr sz="1900">
                <a:solidFill>
                  <a:srgbClr val="1E293B"/>
                </a:solidFill>
              </a:rPr>
              <a:t>Verified that student tokens cannot access administrative or technician endpoints (HTTP 403 Forbidden).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2563EB"/>
                </a:solidFill>
              </a:rPr>
              <a:t>• System Integration:
</a:t>
            </a:r>
            <a:r>
              <a:rPr sz="1900">
                <a:solidFill>
                  <a:srgbClr val="1E293B"/>
                </a:solidFill>
              </a:rPr>
              <a:t>Automated browser validation via Playwright confirming end-to-end user journeys.</a:t>
            </a:r>
          </a:p>
          <a:p>
            <a:pPr>
              <a:spcBef>
                <a:spcPts val="1600"/>
              </a:spcBef>
            </a:pPr>
            <a:r>
              <a:rPr b="1" sz="2000">
                <a:solidFill>
                  <a:srgbClr val="15803D"/>
                </a:solidFill>
              </a:rPr>
              <a:t>✓ 30 / 30 Executed Test Cases PASSED (100%)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0" y="1325880"/>
          <a:ext cx="597377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920240"/>
                <a:gridCol w="2224735"/>
                <a:gridCol w="914400"/>
              </a:tblGrid>
              <a:tr h="66620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 Evaluated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Observed 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Administrator Authentication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HTTP 200; JWT issued; Admin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Student User Authentication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HTTP 200; JWT issued; Student view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Complaint Lodging with Photo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HTTP 201; CMP-ID generated in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Illegal Transition (NEW→CLOSED)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HTTP 400 Bad Request; FSM guarded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Technician Work Assignment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HTTP 200; Dispatched to staff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Unauthorized Endpoint Access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HTTP 403 Forbidden; Access blocked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5803D"/>
                          </a:solidFill>
                          <a:latin typeface="Arial"/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9. 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System Achievements, Practical Limitations &amp;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27648"/>
            <a:ext cx="8229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475569"/>
                </a:solidFill>
                <a:latin typeface="Arial"/>
              </a:defRPr>
            </a:pPr>
            <a:r>
              <a:t>Campus Complaint &amp; Maintenance Management System  |  Software Engineering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327648"/>
            <a:ext cx="23161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600" b="1">
                <a:solidFill>
                  <a:srgbClr val="2563EB"/>
                </a:solidFill>
                <a:latin typeface="Arial"/>
              </a:defRPr>
            </a:pPr>
            <a:r>
              <a:t>Slide 10 of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3392424" cy="406908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39"/>
            <a:ext cx="3026664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15803D"/>
                </a:solidFill>
                <a:latin typeface="Arial"/>
              </a:defRPr>
            </a:pPr>
            <a:r>
              <a:t>What CCMS Achieved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✓ Eliminated error-prone manual logbooks with a 24/7 web-based grievance portal.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✓ Enforced strict role-based access across Student, Faculty, Staff, and Admin.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✓ Implemented an audited Finite State Machine preventing illegal status jumps.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✓ Established an immutable audit log ensuring complete administrative transparency.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8264" y="1325880"/>
            <a:ext cx="3392424" cy="4069080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463039"/>
            <a:ext cx="3026664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B45309"/>
                </a:solidFill>
                <a:latin typeface="Arial"/>
              </a:defRPr>
            </a:pPr>
            <a:r>
              <a:t>Current Limitations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• Notification delivery relies on active web sessions (no external SMS/Email gateway).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• Evidence images stored on local server filesystem rather than cloud object storage.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• Technician assignment requires manual administrative allocation.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5008" y="1325880"/>
            <a:ext cx="3392424" cy="406908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463039"/>
            <a:ext cx="3026664" cy="3794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2563EB"/>
                </a:solidFill>
                <a:latin typeface="Arial"/>
              </a:defRPr>
            </a:pPr>
            <a:r>
              <a:t>Future Roadmap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→ Integration of Nodemailer (SMTP) and Twilio (SMS) for automated push alerts.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→ Migration of evidence storage to Amazon S3 / Cloudinary cloud buckets.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→ Development of cross-platform mobile app using React Native.</a:t>
            </a:r>
          </a:p>
          <a:p>
            <a:pPr>
              <a:spcBef>
                <a:spcPts val="800"/>
              </a:spcBef>
              <a:defRPr sz="1900">
                <a:solidFill>
                  <a:srgbClr val="1E293B"/>
                </a:solidFill>
              </a:defRPr>
            </a:pPr>
            <a:r>
              <a:t>→ Automated technician dispatching based on active workload and trade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59552"/>
            <a:ext cx="10728655" cy="594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  <a:latin typeface="Arial"/>
              </a:defRPr>
            </a:pPr>
            <a:r>
              <a:t>Thank You  |  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