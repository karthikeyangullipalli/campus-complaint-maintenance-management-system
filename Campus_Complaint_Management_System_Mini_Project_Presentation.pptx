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097280"/>
            <a:ext cx="164592" cy="466344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051560"/>
            <a:ext cx="96012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D4ED8"/>
                </a:solidFill>
                <a:latin typeface="Arial"/>
              </a:defRPr>
            </a:pPr>
            <a:r>
              <a:t>23CS4219 — SOFTWARE ENGINEERING LABORATORY</a:t>
            </a:r>
          </a:p>
          <a:p>
            <a:pPr>
              <a:spcAft>
                <a:spcPts val="800"/>
              </a:spcAft>
              <a:defRPr sz="3600" b="1">
                <a:solidFill>
                  <a:srgbClr val="0F2744"/>
                </a:solidFill>
                <a:latin typeface="Arial"/>
              </a:defRPr>
            </a:pPr>
            <a:r>
              <a:t>Campus Complaint &amp; Maintenance Management System</a:t>
            </a:r>
          </a:p>
          <a:p>
            <a:pPr>
              <a:spcAft>
                <a:spcPts val="2400"/>
              </a:spcAft>
              <a:defRPr sz="2200" b="0">
                <a:solidFill>
                  <a:srgbClr val="334155"/>
                </a:solidFill>
                <a:latin typeface="Arial"/>
              </a:defRPr>
            </a:pPr>
            <a:r>
              <a:t>A Role-Based Full-Stack Web Application for Institutional Facility Grievance Tracking</a:t>
            </a:r>
          </a:p>
          <a:p>
            <a:pPr>
              <a:spcBef>
                <a:spcPts val="400"/>
              </a:spcBef>
            </a:pPr>
            <a:r>
              <a:rPr b="1" sz="2000">
                <a:solidFill>
                  <a:srgbClr val="0F2744"/>
                </a:solidFill>
              </a:rPr>
              <a:t>Student Name:    </a:t>
            </a:r>
            <a:r>
              <a:rPr sz="2000">
                <a:solidFill>
                  <a:srgbClr val="111827"/>
                </a:solidFill>
              </a:rPr>
              <a:t>Karthikeyan Gullipalli  (Roll No: [ROLL NUMBER])</a:t>
            </a:r>
          </a:p>
          <a:p>
            <a:pPr>
              <a:spcBef>
                <a:spcPts val="400"/>
              </a:spcBef>
            </a:pPr>
            <a:r>
              <a:rPr b="1" sz="2000">
                <a:solidFill>
                  <a:srgbClr val="0F2744"/>
                </a:solidFill>
              </a:rPr>
              <a:t>Faculty Guide:   </a:t>
            </a:r>
            <a:r>
              <a:rPr sz="2000">
                <a:solidFill>
                  <a:srgbClr val="111827"/>
                </a:solidFill>
              </a:rPr>
              <a:t>[GUIDE NAME]</a:t>
            </a:r>
          </a:p>
          <a:p>
            <a:pPr>
              <a:spcBef>
                <a:spcPts val="400"/>
              </a:spcBef>
            </a:pPr>
            <a:r>
              <a:rPr b="1" sz="2000">
                <a:solidFill>
                  <a:srgbClr val="0F2744"/>
                </a:solidFill>
              </a:rPr>
              <a:t>Department:      </a:t>
            </a:r>
            <a:r>
              <a:rPr sz="2000">
                <a:solidFill>
                  <a:srgbClr val="111827"/>
                </a:solidFill>
              </a:rPr>
              <a:t>Department of Computer Science and Engineering</a:t>
            </a:r>
          </a:p>
          <a:p>
            <a:pPr>
              <a:spcBef>
                <a:spcPts val="400"/>
              </a:spcBef>
            </a:pPr>
            <a:r>
              <a:rPr b="1" sz="2000">
                <a:solidFill>
                  <a:srgbClr val="0F2744"/>
                </a:solidFill>
              </a:rPr>
              <a:t>Institution:     </a:t>
            </a:r>
            <a:r>
              <a:rPr sz="2000">
                <a:solidFill>
                  <a:srgbClr val="111827"/>
                </a:solidFill>
              </a:rPr>
              <a:t>Anil Neerukonda Institute of Technology &amp; Sciences (ANITS)</a:t>
            </a:r>
          </a:p>
          <a:p>
            <a:pPr>
              <a:spcBef>
                <a:spcPts val="400"/>
              </a:spcBef>
            </a:pPr>
            <a:r>
              <a:rPr b="1" sz="2000">
                <a:solidFill>
                  <a:srgbClr val="0F2744"/>
                </a:solidFill>
              </a:rPr>
              <a:t>Academic Year:   </a:t>
            </a:r>
            <a:r>
              <a:rPr sz="2000">
                <a:solidFill>
                  <a:srgbClr val="111827"/>
                </a:solidFill>
              </a:rPr>
              <a:t>2024–2025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1. PROBLEM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2744"/>
                </a:solidFill>
                <a:latin typeface="Arial"/>
              </a:defRPr>
            </a:pPr>
            <a:r>
              <a:t>Manual Paper Registers vs. Digital Campus Grievance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8412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334155"/>
                </a:solidFill>
                <a:latin typeface="Arial"/>
              </a:defRPr>
            </a:pPr>
            <a:r>
              <a:t>Campus Complaint &amp; Maintenance Management System  |  Software Engineering Mini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327648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600" b="1">
                <a:solidFill>
                  <a:srgbClr val="1D4ED8"/>
                </a:solidFill>
                <a:latin typeface="Arial"/>
              </a:defRPr>
            </a:pPr>
            <a:r>
              <a:t>Slide 2 of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2240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1033272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200" b="1">
                <a:solidFill>
                  <a:srgbClr val="991B1B"/>
                </a:solidFill>
                <a:latin typeface="Arial"/>
              </a:defRPr>
            </a:pPr>
            <a:r>
              <a:t>Traditional Process: Physical Paper Logbooks &amp; Verbal Dispatch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10512"/>
            <a:ext cx="21945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991B1B"/>
                </a:solidFill>
                <a:latin typeface="Arial"/>
              </a:defRPr>
            </a:pPr>
            <a:r>
              <a:t>Paper Register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1947672"/>
            <a:ext cx="274320" cy="182880"/>
          </a:xfrm>
          <a:prstGeom prst="rightArrow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810512"/>
            <a:ext cx="21945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991B1B"/>
                </a:solidFill>
                <a:latin typeface="Arial"/>
              </a:defRPr>
            </a:pPr>
            <a:r>
              <a:t>Physical Counter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52160" y="1947672"/>
            <a:ext cx="274320" cy="182880"/>
          </a:xfrm>
          <a:prstGeom prst="rightArrow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810512"/>
            <a:ext cx="21945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991B1B"/>
                </a:solidFill>
                <a:latin typeface="Arial"/>
              </a:defRPr>
            </a:pPr>
            <a:r>
              <a:t>Verbal Work Orders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03920" y="1947672"/>
            <a:ext cx="274320" cy="182880"/>
          </a:xfrm>
          <a:prstGeom prst="rightArrow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69680" y="1810512"/>
            <a:ext cx="228600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991B1B"/>
                </a:solidFill>
                <a:latin typeface="Arial"/>
              </a:defRPr>
            </a:pPr>
            <a:r>
              <a:t>No Tracking / Lost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77440"/>
            <a:ext cx="10332720" cy="1051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>
                <a:solidFill>
                  <a:srgbClr val="111827"/>
                </a:solidFill>
                <a:latin typeface="Arial"/>
              </a:defRPr>
            </a:pPr>
            <a:r>
              <a:t>• Physical Vulnerability: Logbooks are prone to damage, misplacement, and zero data backup.</a:t>
            </a:r>
          </a:p>
          <a:p>
            <a:pPr>
              <a:spcBef>
                <a:spcPts val="400"/>
              </a:spcBef>
              <a:defRPr sz="2000">
                <a:solidFill>
                  <a:srgbClr val="111827"/>
                </a:solidFill>
                <a:latin typeface="Arial"/>
              </a:defRPr>
            </a:pPr>
            <a:r>
              <a:t>• Zero Transparency &amp; Accountability: Complainants cannot track progress; verbal orders lack audit trails.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749039"/>
            <a:ext cx="10728655" cy="224028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1033272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200" b="1">
                <a:solidFill>
                  <a:srgbClr val="14532D"/>
                </a:solidFill>
                <a:latin typeface="Arial"/>
              </a:defRPr>
            </a:pPr>
            <a:r>
              <a:t>Proposed CCMS: Structured Full-Stack Web Platform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33672"/>
            <a:ext cx="21945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4532D"/>
                </a:solidFill>
                <a:latin typeface="Arial"/>
              </a:defRPr>
            </a:pPr>
            <a:r>
              <a:t>24/7 Web Portal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200400" y="4370832"/>
            <a:ext cx="274320" cy="18288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66160" y="4233672"/>
            <a:ext cx="21945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4532D"/>
                </a:solidFill>
                <a:latin typeface="Arial"/>
              </a:defRPr>
            </a:pPr>
            <a:r>
              <a:t>Admin Triage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852160" y="4370832"/>
            <a:ext cx="274320" cy="18288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4233672"/>
            <a:ext cx="219456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4532D"/>
                </a:solidFill>
                <a:latin typeface="Arial"/>
              </a:defRPr>
            </a:pPr>
            <a:r>
              <a:t>Technician Queue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503920" y="4370832"/>
            <a:ext cx="274320" cy="18288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69680" y="4233672"/>
            <a:ext cx="228600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4532D"/>
                </a:solidFill>
                <a:latin typeface="Arial"/>
              </a:defRPr>
            </a:pPr>
            <a:r>
              <a:t>Audit &amp; Feedback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00600"/>
            <a:ext cx="10332720" cy="1051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>
                <a:solidFill>
                  <a:srgbClr val="111827"/>
                </a:solidFill>
                <a:latin typeface="Arial"/>
              </a:defRPr>
            </a:pPr>
            <a:r>
              <a:t>• Location &amp; Urgency Tagging: Complaints mapped to exact buildings, floors, and rooms with priority levels.</a:t>
            </a:r>
          </a:p>
          <a:p>
            <a:pPr>
              <a:spcBef>
                <a:spcPts val="400"/>
              </a:spcBef>
              <a:defRPr sz="2000">
                <a:solidFill>
                  <a:srgbClr val="111827"/>
                </a:solidFill>
                <a:latin typeface="Arial"/>
              </a:defRPr>
            </a:pPr>
            <a:r>
              <a:t>• Complete Lifecycle Governance: Real-time status progression, staff assignment, and immutable audit logs.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2. SOFTWARE ENGINEERING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2744"/>
                </a:solidFill>
                <a:latin typeface="Arial"/>
              </a:defRPr>
            </a:pPr>
            <a:r>
              <a:t>SDLC Lifecycle Progression &amp; Requirements Traceability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8412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334155"/>
                </a:solidFill>
                <a:latin typeface="Arial"/>
              </a:defRPr>
            </a:pPr>
            <a:r>
              <a:t>Campus Complaint &amp; Maintenance Management System  |  Software Engineering Mini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327648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600" b="1">
                <a:solidFill>
                  <a:srgbClr val="1D4ED8"/>
                </a:solidFill>
                <a:latin typeface="Arial"/>
              </a:defRPr>
            </a:pPr>
            <a:r>
              <a:t>Slide 3 of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11430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627632"/>
            <a:ext cx="1417320" cy="530352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Requirements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404872" y="1792224"/>
            <a:ext cx="201168" cy="1828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27632"/>
            <a:ext cx="1417320" cy="530352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System Design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87952" y="1792224"/>
            <a:ext cx="201168" cy="1828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0" y="1627632"/>
            <a:ext cx="1417320" cy="530352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Implementation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71032" y="1792224"/>
            <a:ext cx="201168" cy="1828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627632"/>
            <a:ext cx="1417320" cy="530352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Security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754112" y="1792224"/>
            <a:ext cx="201168" cy="1828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1627632"/>
            <a:ext cx="1417320" cy="530352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Testing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537192" y="1792224"/>
            <a:ext cx="201168" cy="1828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29800" y="1627632"/>
            <a:ext cx="1417320" cy="530352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Maintenance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651760"/>
            <a:ext cx="10728655" cy="3429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788920"/>
            <a:ext cx="103327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200" b="1">
                <a:solidFill>
                  <a:srgbClr val="0F2744"/>
                </a:solidFill>
                <a:latin typeface="Arial"/>
              </a:defRPr>
            </a:pPr>
            <a:r>
              <a:t>Requirements Traceability: Demand  →  Engineering Implementation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46120"/>
            <a:ext cx="10332720" cy="2697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b="1" sz="1900">
                <a:solidFill>
                  <a:srgbClr val="1D4ED8"/>
                </a:solidFill>
                <a:latin typeface="Arial"/>
              </a:rPr>
              <a:t>Secure Multi-Role Access         </a:t>
            </a:r>
            <a:r>
              <a:rPr b="1" sz="2000">
                <a:solidFill>
                  <a:srgbClr val="0F2744"/>
                </a:solidFill>
              </a:rPr>
              <a:t> →  </a:t>
            </a:r>
            <a:r>
              <a:rPr sz="1900">
                <a:solidFill>
                  <a:srgbClr val="111827"/>
                </a:solidFill>
                <a:latin typeface="Arial"/>
              </a:rPr>
              <a:t>bcryptjs (10 rounds) + Stateless JWT with verifyToken / requireRole middleware guards</a:t>
            </a:r>
          </a:p>
          <a:p>
            <a:pPr>
              <a:spcBef>
                <a:spcPts val="800"/>
              </a:spcBef>
            </a:pPr>
            <a:r>
              <a:rPr b="1" sz="1900">
                <a:solidFill>
                  <a:srgbClr val="1D4ED8"/>
                </a:solidFill>
                <a:latin typeface="Arial"/>
              </a:rPr>
              <a:t>Structured Grievance Lodging     </a:t>
            </a:r>
            <a:r>
              <a:rPr b="1" sz="2000">
                <a:solidFill>
                  <a:srgbClr val="0F2744"/>
                </a:solidFill>
              </a:rPr>
              <a:t> →  </a:t>
            </a:r>
            <a:r>
              <a:rPr sz="1900">
                <a:solidFill>
                  <a:srgbClr val="111827"/>
                </a:solidFill>
                <a:latin typeface="Arial"/>
              </a:rPr>
              <a:t>Dynamic React form with Category &amp; Location dropdowns + Multer photo attachment</a:t>
            </a:r>
          </a:p>
          <a:p>
            <a:pPr>
              <a:spcBef>
                <a:spcPts val="800"/>
              </a:spcBef>
            </a:pPr>
            <a:r>
              <a:rPr b="1" sz="1900">
                <a:solidFill>
                  <a:srgbClr val="1D4ED8"/>
                </a:solidFill>
                <a:latin typeface="Arial"/>
              </a:rPr>
              <a:t>Administrative Triage &amp; Control  </a:t>
            </a:r>
            <a:r>
              <a:rPr b="1" sz="2000">
                <a:solidFill>
                  <a:srgbClr val="0F2744"/>
                </a:solidFill>
              </a:rPr>
              <a:t> →  </a:t>
            </a:r>
            <a:r>
              <a:rPr sz="1900">
                <a:solidFill>
                  <a:srgbClr val="111827"/>
                </a:solidFill>
                <a:latin typeface="Arial"/>
              </a:rPr>
              <a:t>Centralized Admin Dashboard with status filtering and one-click Verify / Reject actions</a:t>
            </a:r>
          </a:p>
          <a:p>
            <a:pPr>
              <a:spcBef>
                <a:spcPts val="800"/>
              </a:spcBef>
            </a:pPr>
            <a:r>
              <a:rPr b="1" sz="1900">
                <a:solidFill>
                  <a:srgbClr val="1D4ED8"/>
                </a:solidFill>
                <a:latin typeface="Arial"/>
              </a:rPr>
              <a:t>Technician Task Dispatching      </a:t>
            </a:r>
            <a:r>
              <a:rPr b="1" sz="2000">
                <a:solidFill>
                  <a:srgbClr val="0F2744"/>
                </a:solidFill>
              </a:rPr>
              <a:t> →  </a:t>
            </a:r>
            <a:r>
              <a:rPr sz="1900">
                <a:solidFill>
                  <a:srgbClr val="111827"/>
                </a:solidFill>
                <a:latin typeface="Arial"/>
              </a:rPr>
              <a:t>Assignment controller dispatching work orders to dedicated staff task queues</a:t>
            </a:r>
          </a:p>
          <a:p>
            <a:pPr>
              <a:spcBef>
                <a:spcPts val="800"/>
              </a:spcBef>
            </a:pPr>
            <a:r>
              <a:rPr b="1" sz="1900">
                <a:solidFill>
                  <a:srgbClr val="1D4ED8"/>
                </a:solidFill>
                <a:latin typeface="Arial"/>
              </a:rPr>
              <a:t>Audited Lifecycle Governance     </a:t>
            </a:r>
            <a:r>
              <a:rPr b="1" sz="2000">
                <a:solidFill>
                  <a:srgbClr val="0F2744"/>
                </a:solidFill>
              </a:rPr>
              <a:t> →  </a:t>
            </a:r>
            <a:r>
              <a:rPr sz="1900">
                <a:solidFill>
                  <a:srgbClr val="111827"/>
                </a:solidFill>
                <a:latin typeface="Arial"/>
              </a:rPr>
              <a:t>Finite State Machine transition validator with immutable complaint_updates logging</a:t>
            </a:r>
          </a:p>
          <a:p>
            <a:pPr>
              <a:spcBef>
                <a:spcPts val="800"/>
              </a:spcBef>
            </a:pPr>
            <a:r>
              <a:rPr b="1" sz="1900">
                <a:solidFill>
                  <a:srgbClr val="1D4ED8"/>
                </a:solidFill>
                <a:latin typeface="Arial"/>
              </a:rPr>
              <a:t>Resolution Verification &amp; Quality </a:t>
            </a:r>
            <a:r>
              <a:rPr b="1" sz="2000">
                <a:solidFill>
                  <a:srgbClr val="0F2744"/>
                </a:solidFill>
              </a:rPr>
              <a:t> →  </a:t>
            </a:r>
            <a:r>
              <a:rPr sz="1900">
                <a:solidFill>
                  <a:srgbClr val="111827"/>
                </a:solidFill>
                <a:latin typeface="Arial"/>
              </a:rPr>
              <a:t>1 to 5 star student rating submission + reopening capability for unresolved issues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3.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2744"/>
                </a:solidFill>
                <a:latin typeface="Arial"/>
              </a:defRPr>
            </a:pPr>
            <a:r>
              <a:t>Decoupled 3-Tier Client-Server Architecture with Stateless API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8412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334155"/>
                </a:solidFill>
                <a:latin typeface="Arial"/>
              </a:defRPr>
            </a:pPr>
            <a:r>
              <a:t>Campus Complaint &amp; Maintenance Management System  |  Software Engineering Mini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327648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600" b="1">
                <a:solidFill>
                  <a:srgbClr val="1D4ED8"/>
                </a:solidFill>
                <a:latin typeface="Arial"/>
              </a:defRPr>
            </a:pPr>
            <a:r>
              <a:t>Slide 4 of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669280" cy="4754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554480"/>
            <a:ext cx="51206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2744"/>
                </a:solidFill>
                <a:latin typeface="Arial"/>
              </a:defRPr>
            </a:pPr>
            <a:r>
              <a:t>Presentation Tier (Client SPA)</a:t>
            </a:r>
            <a:br/>
            <a:r>
              <a:t>React 18 • Vite 5 • Tailwind CSS • Axios Interceptor</a:t>
            </a:r>
          </a:p>
        </p:txBody>
      </p:sp>
      <p:sp>
        <p:nvSpPr>
          <p:cNvPr id="9" name="Down Arrow 8"/>
          <p:cNvSpPr/>
          <p:nvPr/>
        </p:nvSpPr>
        <p:spPr>
          <a:xfrm>
            <a:off x="3474720" y="2514600"/>
            <a:ext cx="201168" cy="320040"/>
          </a:xfrm>
          <a:prstGeom prst="down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251460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D4ED8"/>
                </a:solidFill>
              </a:defRPr>
            </a:pPr>
            <a:r>
              <a:t>HTTPS REST + Bearer JWT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926080"/>
            <a:ext cx="512064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2744"/>
                </a:solidFill>
                <a:latin typeface="Arial"/>
              </a:defRPr>
            </a:pPr>
            <a:r>
              <a:t>Application Tier (REST API Server)</a:t>
            </a:r>
            <a:br/>
            <a:r>
              <a:t>Node.js 18 LTS • Express 4.19 • Multer Upload</a:t>
            </a:r>
            <a:br/>
            <a:r>
              <a:t>JWT Auth Middleware • State Machine Validator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474720" y="3977639"/>
            <a:ext cx="201168" cy="320040"/>
          </a:xfrm>
          <a:prstGeom prst="down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3977639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D4ED8"/>
                </a:solidFill>
              </a:defRPr>
            </a:pPr>
            <a:r>
              <a:t>Parameterized Queries (Pool)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4389120"/>
            <a:ext cx="51206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2744"/>
                </a:solidFill>
                <a:latin typeface="Arial"/>
              </a:defRPr>
            </a:pPr>
            <a:r>
              <a:t>Data Tier (Relational Storage)</a:t>
            </a:r>
            <a:br/>
            <a:r>
              <a:t>MySQL 8 Relational Database (ccms_db)</a:t>
            </a:r>
            <a:br/>
            <a:r>
              <a:t>7 Normalized 3NF Tables • InnoDB Transactions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1325880"/>
            <a:ext cx="47850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1508760"/>
            <a:ext cx="434340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0F2744"/>
                </a:solidFill>
                <a:latin typeface="Arial"/>
              </a:defRPr>
            </a:pPr>
            <a:r>
              <a:t>Key Architectural Principles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D4ED8"/>
                </a:solidFill>
              </a:rPr>
              <a:t>• Separation of Concerns:
</a:t>
            </a:r>
            <a:r>
              <a:rPr sz="1900">
                <a:solidFill>
                  <a:srgbClr val="111827"/>
                </a:solidFill>
              </a:rPr>
              <a:t>The presentation layer is strictly decoupled from storage. The client never queries the database directly; all operations pass through audited REST controllers.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D4ED8"/>
                </a:solidFill>
              </a:rPr>
              <a:t>• Stateless Authorization:
</a:t>
            </a:r>
            <a:r>
              <a:rPr sz="1900">
                <a:solidFill>
                  <a:srgbClr val="111827"/>
                </a:solidFill>
              </a:rPr>
              <a:t>JSON Web Tokens (JWT) eliminate server-side session memory. Each request carries cryptographic proof of role, supporting seamless horizontal scaling.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D4ED8"/>
                </a:solidFill>
              </a:rPr>
              <a:t>• Relational Integrity &amp; ACID:
</a:t>
            </a:r>
            <a:r>
              <a:rPr sz="1900">
                <a:solidFill>
                  <a:srgbClr val="111827"/>
                </a:solidFill>
              </a:rPr>
              <a:t>MySQL InnoDB engine enforces strict foreign keys, atomic transactions for status transitions, and data integrity across complaint history.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D4ED8"/>
                </a:solidFill>
              </a:rPr>
              <a:t>• Defense in Depth Security:
</a:t>
            </a:r>
            <a:r>
              <a:rPr sz="1900">
                <a:solidFill>
                  <a:srgbClr val="111827"/>
                </a:solidFill>
              </a:rPr>
              <a:t>Layered defense combining client route guards, express-validator sanitization, parameterized queries, and bcryptjs password salting.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4. COMPLAINT WORKFLOW &amp;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2744"/>
                </a:solidFill>
                <a:latin typeface="Arial"/>
              </a:defRPr>
            </a:pPr>
            <a:r>
              <a:t>Finite State Machine Enforcing Audited Status Progression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8412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334155"/>
                </a:solidFill>
                <a:latin typeface="Arial"/>
              </a:defRPr>
            </a:pPr>
            <a:r>
              <a:t>Campus Complaint &amp; Maintenance Management System  |  Software Engineering Mini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327648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600" b="1">
                <a:solidFill>
                  <a:srgbClr val="1D4ED8"/>
                </a:solidFill>
                <a:latin typeface="Arial"/>
              </a:defRPr>
            </a:pPr>
            <a:r>
              <a:t>Slide 5 of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1965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1033272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200" b="1">
                <a:solidFill>
                  <a:srgbClr val="0F2744"/>
                </a:solidFill>
                <a:latin typeface="Arial"/>
              </a:defRPr>
            </a:pPr>
            <a:r>
              <a:t>Finite State Machine (FSM) Lifecycle Flowchart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74519"/>
            <a:ext cx="1280160" cy="502920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NEW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67712" y="2020824"/>
            <a:ext cx="201168" cy="1828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1874519"/>
            <a:ext cx="1463040" cy="502920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VERIFIED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96512" y="2020824"/>
            <a:ext cx="201168" cy="1828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1874519"/>
            <a:ext cx="1463040" cy="502920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ASSIGNED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5312" y="2020824"/>
            <a:ext cx="201168" cy="1828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874519"/>
            <a:ext cx="1645920" cy="502920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IN_PROGRESS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36992" y="2020824"/>
            <a:ext cx="201168" cy="1828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0" y="1874519"/>
            <a:ext cx="1463040" cy="502920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RESOLVED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65792" y="2020824"/>
            <a:ext cx="201168" cy="1828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0" y="1874519"/>
            <a:ext cx="1188720" cy="502920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651760"/>
            <a:ext cx="10332720" cy="5029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900">
                <a:solidFill>
                  <a:srgbClr val="0F2744"/>
                </a:solidFill>
              </a:rPr>
              <a:t>Exception &amp; Feedback Branches:  </a:t>
            </a:r>
            <a:r>
              <a:rPr sz="1900">
                <a:solidFill>
                  <a:srgbClr val="334155"/>
                </a:solidFill>
              </a:rPr>
              <a:t>• NEW / VERIFIED → REJECTED (Invalid or out-of-scope ticket dismissed with reason)
• CLOSED → REOPENED (Student flags that recurring defect was not resolved properly)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474720"/>
            <a:ext cx="3392424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611879"/>
            <a:ext cx="3026664" cy="2331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1D4ED8"/>
                </a:solidFill>
                <a:latin typeface="Arial"/>
              </a:defRPr>
            </a:pPr>
            <a:r>
              <a:t>1. Student / Faculty</a:t>
            </a:r>
          </a:p>
          <a:p>
            <a:pPr>
              <a:spcBef>
                <a:spcPts val="600"/>
              </a:spcBef>
              <a:defRPr sz="1900">
                <a:solidFill>
                  <a:srgbClr val="111827"/>
                </a:solidFill>
              </a:defRPr>
            </a:pPr>
            <a:r>
              <a:t>• Lodges complaint with building, room, and photo.</a:t>
            </a:r>
          </a:p>
          <a:p>
            <a:pPr>
              <a:spcBef>
                <a:spcPts val="600"/>
              </a:spcBef>
              <a:defRPr sz="1900">
                <a:solidFill>
                  <a:srgbClr val="111827"/>
                </a:solidFill>
              </a:defRPr>
            </a:pPr>
            <a:r>
              <a:t>• Monitors real-time status &amp; updates.</a:t>
            </a:r>
          </a:p>
          <a:p>
            <a:pPr>
              <a:spcBef>
                <a:spcPts val="600"/>
              </a:spcBef>
              <a:defRPr sz="1900">
                <a:solidFill>
                  <a:srgbClr val="111827"/>
                </a:solidFill>
              </a:defRPr>
            </a:pPr>
            <a:r>
              <a:t>• Confirms repair &amp; provides 1–5 star rating.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8264" y="3474720"/>
            <a:ext cx="3392424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81144" y="3611879"/>
            <a:ext cx="3026664" cy="2331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0F2744"/>
                </a:solidFill>
                <a:latin typeface="Arial"/>
              </a:defRPr>
            </a:pPr>
            <a:r>
              <a:t>2. Administrator</a:t>
            </a:r>
          </a:p>
          <a:p>
            <a:pPr>
              <a:spcBef>
                <a:spcPts val="600"/>
              </a:spcBef>
              <a:defRPr sz="1900">
                <a:solidFill>
                  <a:srgbClr val="111827"/>
                </a:solidFill>
              </a:defRPr>
            </a:pPr>
            <a:r>
              <a:t>• Reviews validity; marks VERIFIED or REJECTED.</a:t>
            </a:r>
          </a:p>
          <a:p>
            <a:pPr>
              <a:spcBef>
                <a:spcPts val="600"/>
              </a:spcBef>
              <a:defRPr sz="1900">
                <a:solidFill>
                  <a:srgbClr val="111827"/>
                </a:solidFill>
              </a:defRPr>
            </a:pPr>
            <a:r>
              <a:t>• Assigns ticket to designated maintenance staff.</a:t>
            </a:r>
          </a:p>
          <a:p>
            <a:pPr>
              <a:spcBef>
                <a:spcPts val="600"/>
              </a:spcBef>
              <a:defRPr sz="1900">
                <a:solidFill>
                  <a:srgbClr val="111827"/>
                </a:solidFill>
              </a:defRPr>
            </a:pPr>
            <a:r>
              <a:t>• Monitors SLA resolution &amp; closes tickets.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5008" y="3474720"/>
            <a:ext cx="3392424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7888" y="3611879"/>
            <a:ext cx="3026664" cy="2331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14532D"/>
                </a:solidFill>
                <a:latin typeface="Arial"/>
              </a:defRPr>
            </a:pPr>
            <a:r>
              <a:t>3. Maintenance Staff</a:t>
            </a:r>
          </a:p>
          <a:p>
            <a:pPr>
              <a:spcBef>
                <a:spcPts val="600"/>
              </a:spcBef>
              <a:defRPr sz="1900">
                <a:solidFill>
                  <a:srgbClr val="111827"/>
                </a:solidFill>
              </a:defRPr>
            </a:pPr>
            <a:r>
              <a:t>• Receives work orders in dedicated queue.</a:t>
            </a:r>
          </a:p>
          <a:p>
            <a:pPr>
              <a:spcBef>
                <a:spcPts val="600"/>
              </a:spcBef>
              <a:defRPr sz="1900">
                <a:solidFill>
                  <a:srgbClr val="111827"/>
                </a:solidFill>
              </a:defRPr>
            </a:pPr>
            <a:r>
              <a:t>• Transitions status to IN_PROGRESS upon start.</a:t>
            </a:r>
          </a:p>
          <a:p>
            <a:pPr>
              <a:spcBef>
                <a:spcPts val="600"/>
              </a:spcBef>
              <a:defRPr sz="1900">
                <a:solidFill>
                  <a:srgbClr val="111827"/>
                </a:solidFill>
              </a:defRPr>
            </a:pPr>
            <a:r>
              <a:t>• Records diagnostic remarks &amp; marks RESOLVED.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5. MAJOR MODULES &amp;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2744"/>
                </a:solidFill>
                <a:latin typeface="Arial"/>
              </a:defRPr>
            </a:pPr>
            <a:r>
              <a:t>Cohesive Functional Modules Mapped to Modern Technologies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8412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334155"/>
                </a:solidFill>
                <a:latin typeface="Arial"/>
              </a:defRPr>
            </a:pPr>
            <a:r>
              <a:t>Campus Complaint &amp; Maintenance Management System  |  Software Engineering Mini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327648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600" b="1">
                <a:solidFill>
                  <a:srgbClr val="1D4ED8"/>
                </a:solidFill>
                <a:latin typeface="Arial"/>
              </a:defRPr>
            </a:pPr>
            <a:r>
              <a:t>Slide 6 of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754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08760"/>
            <a:ext cx="475488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F2744"/>
                </a:solidFill>
                <a:latin typeface="Arial"/>
              </a:defRPr>
            </a:pPr>
            <a:r>
              <a:t>Major System Modules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1D4ED8"/>
                </a:solidFill>
              </a:rPr>
              <a:t>• Authentication &amp; RBAC: </a:t>
            </a:r>
            <a:r>
              <a:rPr sz="1900">
                <a:solidFill>
                  <a:srgbClr val="111827"/>
                </a:solidFill>
              </a:rPr>
              <a:t>User registration, bcryptjs hashing, JWT token issuance, and Student/Faculty/Maintenance/Admin route protection.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1D4ED8"/>
                </a:solidFill>
              </a:rPr>
              <a:t>• Complaint Lodging: </a:t>
            </a:r>
            <a:r>
              <a:rPr sz="1900">
                <a:solidFill>
                  <a:srgbClr val="111827"/>
                </a:solidFill>
              </a:rPr>
              <a:t>Dynamic React form mapping issues to campus buildings &amp; rooms, Multer image upload, unique CMP-ID generation.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1D4ED8"/>
                </a:solidFill>
              </a:rPr>
              <a:t>• Admin Control Center: </a:t>
            </a:r>
            <a:r>
              <a:rPr sz="1900">
                <a:solidFill>
                  <a:srgbClr val="111827"/>
                </a:solidFill>
              </a:rPr>
              <a:t>Campus-wide ticket visibility, multi-criteria filtering, one-click verify/reject, and technician allocation.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1D4ED8"/>
                </a:solidFill>
              </a:rPr>
              <a:t>• Maintenance Task Queue: </a:t>
            </a:r>
            <a:r>
              <a:rPr sz="1900">
                <a:solidFill>
                  <a:srgbClr val="111827"/>
                </a:solidFill>
              </a:rPr>
              <a:t>Staff-focused work order queue with real-time status transitions (In Progress) and resolution remarks logging.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1D4ED8"/>
                </a:solidFill>
              </a:rPr>
              <a:t>• Audit History &amp; Feedback: </a:t>
            </a:r>
            <a:r>
              <a:rPr sz="1900">
                <a:solidFill>
                  <a:srgbClr val="111827"/>
                </a:solidFill>
              </a:rPr>
              <a:t>Append-only status history in complaint_updates and 1 to 5 star user feedback collection.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6695" y="1508760"/>
            <a:ext cx="475488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F2744"/>
                </a:solidFill>
                <a:latin typeface="Arial"/>
              </a:defRPr>
            </a:pPr>
            <a:r>
              <a:t>Production Technology Stack</a:t>
            </a:r>
          </a:p>
          <a:p>
            <a:pPr>
              <a:spcBef>
                <a:spcPts val="1200"/>
              </a:spcBef>
            </a:pPr>
            <a:r>
              <a:rPr b="1" sz="2100">
                <a:solidFill>
                  <a:srgbClr val="0F2744"/>
                </a:solidFill>
              </a:rPr>
              <a:t>Frontend Tier
</a:t>
            </a:r>
            <a:r>
              <a:rPr sz="2000">
                <a:solidFill>
                  <a:srgbClr val="334155"/>
                </a:solidFill>
              </a:rPr>
              <a:t>React 18.2 SPA, Vite 5.0 (Build Tool), Tailwind CSS 3.3 (Styling), React Router v6, Axios 1.6</a:t>
            </a:r>
          </a:p>
          <a:p>
            <a:pPr>
              <a:spcBef>
                <a:spcPts val="1200"/>
              </a:spcBef>
            </a:pPr>
            <a:r>
              <a:rPr b="1" sz="2100">
                <a:solidFill>
                  <a:srgbClr val="0F2744"/>
                </a:solidFill>
              </a:rPr>
              <a:t>Backend Tier
</a:t>
            </a:r>
            <a:r>
              <a:rPr sz="2000">
                <a:solidFill>
                  <a:srgbClr val="334155"/>
                </a:solidFill>
              </a:rPr>
              <a:t>Node.js 18+ LTS, Express.js 4.19 REST API, express-validator, Multer 1.4 (Evidence Upload)</a:t>
            </a:r>
          </a:p>
          <a:p>
            <a:pPr>
              <a:spcBef>
                <a:spcPts val="1200"/>
              </a:spcBef>
            </a:pPr>
            <a:r>
              <a:rPr b="1" sz="2100">
                <a:solidFill>
                  <a:srgbClr val="0F2744"/>
                </a:solidFill>
              </a:rPr>
              <a:t>Database &amp; Storage
</a:t>
            </a:r>
            <a:r>
              <a:rPr sz="2000">
                <a:solidFill>
                  <a:srgbClr val="334155"/>
                </a:solidFill>
              </a:rPr>
              <a:t>MySQL 8.0 Relational DBMS, mysql2 3.9 Connection Pool, 7 Normalized 3NF Tables, InnoDB Engine</a:t>
            </a:r>
          </a:p>
          <a:p>
            <a:pPr>
              <a:spcBef>
                <a:spcPts val="1200"/>
              </a:spcBef>
            </a:pPr>
            <a:r>
              <a:rPr b="1" sz="2100">
                <a:solidFill>
                  <a:srgbClr val="0F2744"/>
                </a:solidFill>
              </a:rPr>
              <a:t>Security &amp; Tooling
</a:t>
            </a:r>
            <a:r>
              <a:rPr sz="2000">
                <a:solidFill>
                  <a:srgbClr val="334155"/>
                </a:solidFill>
              </a:rPr>
              <a:t>JSON Web Tokens (JWT HS256), bcryptjs (10 salt rounds), Git &amp; GitHub, Playwright Test Runner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6. DATABASE DESIGN &amp;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2744"/>
                </a:solidFill>
                <a:latin typeface="Arial"/>
              </a:defRPr>
            </a:pPr>
            <a:r>
              <a:t>Normalized 3NF Relational Schema with Immutable Audit Trail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8412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334155"/>
                </a:solidFill>
                <a:latin typeface="Arial"/>
              </a:defRPr>
            </a:pPr>
            <a:r>
              <a:t>Campus Complaint &amp; Maintenance Management System  |  Software Engineering Mini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327648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600" b="1">
                <a:solidFill>
                  <a:srgbClr val="1D4ED8"/>
                </a:solidFill>
                <a:latin typeface="Arial"/>
              </a:defRPr>
            </a:pPr>
            <a:r>
              <a:t>Slide 7 of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1033272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200" b="1">
                <a:solidFill>
                  <a:srgbClr val="0F2744"/>
                </a:solidFill>
                <a:latin typeface="Arial"/>
              </a:defRPr>
            </a:pPr>
            <a:r>
              <a:t>Core Relational Entities &amp; Associations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32918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2744"/>
                </a:solidFill>
                <a:latin typeface="Arial"/>
              </a:defRPr>
            </a:pPr>
            <a:r>
              <a:t>USERS</a:t>
            </a:r>
            <a:br/>
            <a:r>
              <a:t>id, name, email, role, department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4" y="1828800"/>
            <a:ext cx="3291840" cy="777240"/>
          </a:xfrm>
          <a:prstGeom prst="roundRect">
            <a:avLst/>
          </a:prstGeom>
          <a:solidFill>
            <a:srgbClr val="0F2744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COMPLAINTS (Core Entity)</a:t>
            </a:r>
            <a:br/>
            <a:r>
              <a:t>id, complaint_no, priority, status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82712" y="1828800"/>
            <a:ext cx="32918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2744"/>
                </a:solidFill>
                <a:latin typeface="Arial"/>
              </a:defRPr>
            </a:pPr>
            <a:r>
              <a:t>LOCATIONS &amp; CATEGORIES</a:t>
            </a:r>
            <a:br/>
            <a:r>
              <a:t>building, floor, room, category_name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743200"/>
            <a:ext cx="32918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D4ED8"/>
                </a:solidFill>
                <a:latin typeface="Arial"/>
              </a:defRPr>
            </a:pPr>
            <a:r>
              <a:t>COMPLAINT_ASSIGNMENTS</a:t>
            </a:r>
            <a:br/>
            <a:r>
              <a:t>staff_id, assigned_by, assigned_at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743200"/>
            <a:ext cx="32918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D4ED8"/>
                </a:solidFill>
                <a:latin typeface="Arial"/>
              </a:defRPr>
            </a:pPr>
            <a:r>
              <a:t>COMPLAINT_UPDATES (Audit Log)</a:t>
            </a:r>
            <a:br/>
            <a:r>
              <a:t>old_status, new_status, remarks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2712" y="2743200"/>
            <a:ext cx="32918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D4ED8"/>
                </a:solidFill>
                <a:latin typeface="Arial"/>
              </a:defRPr>
            </a:pPr>
            <a:r>
              <a:t>FEEDBACK</a:t>
            </a:r>
            <a:br/>
            <a:r>
              <a:t>user_id, rating (1-5), comments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94760"/>
            <a:ext cx="3392424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31920"/>
            <a:ext cx="3026664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0F2744"/>
                </a:solidFill>
                <a:latin typeface="Arial"/>
              </a:defRPr>
            </a:pPr>
            <a:r>
              <a:t>Third Normal Form (3NF)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  <a:latin typeface="Arial"/>
              </a:defRPr>
            </a:pPr>
            <a:r>
              <a:t>Redundancy eliminated. Campus locations and categories are stored as independent master tables, allowing dynamic additions without schema alterations.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98264" y="3794760"/>
            <a:ext cx="3392424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3931920"/>
            <a:ext cx="3026664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1D4ED8"/>
                </a:solidFill>
                <a:latin typeface="Arial"/>
              </a:defRPr>
            </a:pPr>
            <a:r>
              <a:t>Immutable Audit Trail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  <a:latin typeface="Arial"/>
              </a:defRPr>
            </a:pPr>
            <a:r>
              <a:t>All lifecycle transitions insert a new record into complaint_updates with old/new status, operator ID, and timestamp, guaranteeing complete accountability.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8" y="3794760"/>
            <a:ext cx="3392424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3931920"/>
            <a:ext cx="3026664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14532D"/>
                </a:solidFill>
                <a:latin typeface="Arial"/>
              </a:defRPr>
            </a:pPr>
            <a:r>
              <a:t>Referential Integrity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  <a:latin typeface="Arial"/>
              </a:defRPr>
            </a:pPr>
            <a:r>
              <a:t>Foreign key constraints with RESTRICT/CASCADE rules prevent orphaned records. Inactive users and locations are flagged rather than deleted.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7. IMPLEMENTED APPLICATION 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2744"/>
                </a:solidFill>
                <a:latin typeface="Arial"/>
              </a:defRPr>
            </a:pPr>
            <a:r>
              <a:t>Authentic User Interfaces Captured from the Running CCMS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8412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334155"/>
                </a:solidFill>
                <a:latin typeface="Arial"/>
              </a:defRPr>
            </a:pPr>
            <a:r>
              <a:t>Campus Complaint &amp; Maintenance Management System  |  Software Engineering Mini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327648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600" b="1">
                <a:solidFill>
                  <a:srgbClr val="1D4ED8"/>
                </a:solidFill>
                <a:latin typeface="Arial"/>
              </a:defRPr>
            </a:pPr>
            <a:r>
              <a:t>Slide 8 of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7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4937759" cy="30860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4709160"/>
            <a:ext cx="484632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0F2744"/>
                </a:solidFill>
                <a:latin typeface="Arial"/>
              </a:defRPr>
            </a:pPr>
            <a:r>
              <a:t>1. Administrator Control Center</a:t>
            </a:r>
          </a:p>
          <a:p>
            <a:pPr>
              <a:spcBef>
                <a:spcPts val="400"/>
              </a:spcBef>
              <a:defRPr sz="1900">
                <a:solidFill>
                  <a:srgbClr val="111827"/>
                </a:solidFill>
                <a:latin typeface="Arial"/>
              </a:defRPr>
            </a:pPr>
            <a:r>
              <a:t>① Real-Time Campus KPIs: Total, open, resolved, and critical ticket tallies.</a:t>
            </a:r>
            <a:br/>
            <a:r>
              <a:t>② Governance &amp; Triage: Instant search, category filters, and verify/reject controls.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371600"/>
            <a:ext cx="512064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_maintenance_t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975" y="1463040"/>
            <a:ext cx="4937759" cy="30860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76695" y="4709160"/>
            <a:ext cx="484632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14532D"/>
                </a:solidFill>
                <a:latin typeface="Arial"/>
              </a:defRPr>
            </a:pPr>
            <a:r>
              <a:t>2. Technician Work Order Queue</a:t>
            </a:r>
          </a:p>
          <a:p>
            <a:pPr>
              <a:spcBef>
                <a:spcPts val="400"/>
              </a:spcBef>
              <a:defRPr sz="1900">
                <a:solidFill>
                  <a:srgbClr val="111827"/>
                </a:solidFill>
                <a:latin typeface="Arial"/>
              </a:defRPr>
            </a:pPr>
            <a:r>
              <a:t>① Focused Dispatching: Displays exact campus building, floor, room, and urgency.</a:t>
            </a:r>
            <a:br/>
            <a:r>
              <a:t>② Work Execution: Single-click 'Start Work' and diagnostic resolution remarks submission.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8. TESTING &amp; QUALITY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2744"/>
                </a:solidFill>
                <a:latin typeface="Arial"/>
              </a:defRPr>
            </a:pPr>
            <a:r>
              <a:t>Rigorous Multi-Level Verification with 100% Pass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8412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334155"/>
                </a:solidFill>
                <a:latin typeface="Arial"/>
              </a:defRPr>
            </a:pPr>
            <a:r>
              <a:t>Campus Complaint &amp; Maintenance Management System  |  Software Engineering Mini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327648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600" b="1">
                <a:solidFill>
                  <a:srgbClr val="1D4ED8"/>
                </a:solidFill>
                <a:latin typeface="Arial"/>
              </a:defRPr>
            </a:pPr>
            <a:r>
              <a:t>Slide 9 of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4389120" cy="4754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08760"/>
            <a:ext cx="393192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F2744"/>
                </a:solidFill>
                <a:latin typeface="Arial"/>
              </a:defRPr>
            </a:pPr>
            <a:r>
              <a:t>Verification Methodology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1D4ED8"/>
                </a:solidFill>
              </a:rPr>
              <a:t>• Unit Testing:
</a:t>
            </a:r>
            <a:r>
              <a:rPr sz="1900">
                <a:solidFill>
                  <a:srgbClr val="111827"/>
                </a:solidFill>
              </a:rPr>
              <a:t>Validated bcrypt password salting, token signing/verification, and unique CMP-ID generators.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1D4ED8"/>
                </a:solidFill>
              </a:rPr>
              <a:t>• Basis Path Testing:
</a:t>
            </a:r>
            <a:r>
              <a:rPr sz="1900">
                <a:solidFill>
                  <a:srgbClr val="111827"/>
                </a:solidFill>
              </a:rPr>
              <a:t>Mapped Cyclomatic Complexity V(G) = 11 for statusController.js; validated all legal and illegal transition branches.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1D4ED8"/>
                </a:solidFill>
              </a:rPr>
              <a:t>• Role Access Boundary:
</a:t>
            </a:r>
            <a:r>
              <a:rPr sz="1900">
                <a:solidFill>
                  <a:srgbClr val="111827"/>
                </a:solidFill>
              </a:rPr>
              <a:t>Verified that student tokens cannot access administrative or technician endpoints (HTTP 403 Forbidden).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1D4ED8"/>
                </a:solidFill>
              </a:rPr>
              <a:t>• System Integration:
</a:t>
            </a:r>
            <a:r>
              <a:rPr sz="1900">
                <a:solidFill>
                  <a:srgbClr val="111827"/>
                </a:solidFill>
              </a:rPr>
              <a:t>Automated browser validation via Playwright confirming end-to-end user journeys.</a:t>
            </a:r>
          </a:p>
          <a:p>
            <a:pPr>
              <a:spcBef>
                <a:spcPts val="1400"/>
              </a:spcBef>
            </a:pPr>
            <a:r>
              <a:rPr b="1" sz="2000">
                <a:solidFill>
                  <a:srgbClr val="14532D"/>
                </a:solidFill>
              </a:rPr>
              <a:t>✓ 30 / 30 Test Cases PASSED (100%)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0" y="1325880"/>
          <a:ext cx="6156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316175"/>
                <a:gridCol w="914400"/>
              </a:tblGrid>
              <a:tr h="679268"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ID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Scenario Evaluated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Observed Result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2744"/>
                          </a:solidFill>
                          <a:latin typeface="Arial"/>
                        </a:defRPr>
                      </a:pPr>
                      <a:r>
                        <a:t>TC-01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Administrator Authentication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HTTP 200; JWT issued; Admin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2744"/>
                          </a:solidFill>
                          <a:latin typeface="Arial"/>
                        </a:defRPr>
                      </a:pPr>
                      <a:r>
                        <a:t>TC-02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Student User Authentication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HTTP 200; JWT issued; Student view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2744"/>
                          </a:solidFill>
                          <a:latin typeface="Arial"/>
                        </a:defRPr>
                      </a:pPr>
                      <a:r>
                        <a:t>TC-03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Complaint Lodging with Photo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HTTP 201; CMP-ID generated in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2744"/>
                          </a:solidFill>
                          <a:latin typeface="Arial"/>
                        </a:defRPr>
                      </a:pPr>
                      <a:r>
                        <a:t>TC-04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Illegal Transition (NEW→CLOSED)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HTTP 400 Bad Request; FSM guarded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2744"/>
                          </a:solidFill>
                          <a:latin typeface="Arial"/>
                        </a:defRPr>
                      </a:pPr>
                      <a:r>
                        <a:t>TC-05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Technician Work Assignment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HTTP 200; Dispatched to staff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F2744"/>
                          </a:solidFill>
                          <a:latin typeface="Arial"/>
                        </a:defRPr>
                      </a:pPr>
                      <a:r>
                        <a:t>TC-06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Unauthorized Endpoint Access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11827"/>
                          </a:solidFill>
                          <a:latin typeface="Arial"/>
                        </a:defRPr>
                      </a:pPr>
                      <a:r>
                        <a:t>HTTP 403 Forbidden; Access blocked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4532D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D4ED8"/>
                </a:solidFill>
                <a:latin typeface="Arial"/>
              </a:defRPr>
            </a:pPr>
            <a:r>
              <a:t>9. CONCLUSION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2744"/>
                </a:solidFill>
                <a:latin typeface="Arial"/>
              </a:defRPr>
            </a:pPr>
            <a:r>
              <a:t>Engineering Milestones, Current Constraints &amp; System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8412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334155"/>
                </a:solidFill>
                <a:latin typeface="Arial"/>
              </a:defRPr>
            </a:pPr>
            <a:r>
              <a:t>Campus Complaint &amp; Maintenance Management System  |  Software Engineering Mini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327648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600" b="1">
                <a:solidFill>
                  <a:srgbClr val="1D4ED8"/>
                </a:solidFill>
                <a:latin typeface="Arial"/>
              </a:defRPr>
            </a:pPr>
            <a:r>
              <a:t>Slide 10 of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392424" cy="406908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3026664" cy="3794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4532D"/>
                </a:solidFill>
                <a:latin typeface="Arial"/>
              </a:defRPr>
            </a:pPr>
            <a:r>
              <a:t>What CCMS Achieved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✓ Eliminated error-prone manual logbooks with a 24/7 web-based grievance ecosystem.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✓ Enforced strict role-based access across Student, Faculty, Staff, and Admin.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✓ Implemented an audited Finite State Machine preventing illegal status jumps.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✓ Established an immutable audit log ensuring complete administrative transparency.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325880"/>
            <a:ext cx="3392424" cy="406908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463039"/>
            <a:ext cx="3026664" cy="3794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92400E"/>
                </a:solidFill>
                <a:latin typeface="Arial"/>
              </a:defRPr>
            </a:pPr>
            <a:r>
              <a:t>Current Limitations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• Notification delivery relies on active web sessions (no external SMS/Email gateway).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• Evidence images stored on local server filesystem rather than cloud object storage.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• Technician assignment requires manual administrative allocation.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325880"/>
            <a:ext cx="3392424" cy="406908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1463039"/>
            <a:ext cx="3026664" cy="3794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D4ED8"/>
                </a:solidFill>
                <a:latin typeface="Arial"/>
              </a:defRPr>
            </a:pPr>
            <a:r>
              <a:t>Future Roadmap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→ Integration of Nodemailer (SMTP) and Twilio (SMS) for automated alerts.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→ Migration of evidence storage to Amazon S3 / Cloudinary cloud buckets.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→ Development of cross-platform mobile app using React Native.</a:t>
            </a:r>
          </a:p>
          <a:p>
            <a:pPr>
              <a:spcBef>
                <a:spcPts val="800"/>
              </a:spcBef>
              <a:defRPr sz="1900">
                <a:solidFill>
                  <a:srgbClr val="111827"/>
                </a:solidFill>
              </a:defRPr>
            </a:pPr>
            <a:r>
              <a:t>→ Automated technician dispatching based on active workload and trade skills.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532120"/>
            <a:ext cx="10728655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2600" b="1">
                <a:solidFill>
                  <a:srgbClr val="0F2744"/>
                </a:solidFill>
                <a:latin typeface="Arial"/>
              </a:defRPr>
            </a:pPr>
            <a:r>
              <a:t>Thank You  |  Questions &amp; Answers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