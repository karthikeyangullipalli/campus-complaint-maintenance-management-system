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484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563EB"/>
                </a:solidFill>
                <a:latin typeface="Arial"/>
              </a:defRPr>
            </a:pPr>
            <a:r>
              <a:t>MINI PROJECT  |  23CS4219 - SOFTWARE ENGINEERING LABORATORY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3A8A"/>
                </a:solidFill>
                <a:latin typeface="Arial"/>
              </a:defRPr>
            </a:pPr>
            <a:r>
              <a:t>Campus Complaint &amp; Maintenance Management System</a:t>
            </a:r>
          </a:p>
          <a:p>
            <a:pPr algn="ctr">
              <a:spcBef>
                <a:spcPts val="6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A Role-Based Full-Stack Web Platform for Institutional Grievance Lifecycle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4484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Arial"/>
              </a:defRPr>
            </a:pPr>
            <a:r>
              <a:t>Submitted by:  KARTHIKEYAN GULLIPALLI ([ROLL NUMBER])</a:t>
            </a:r>
          </a:p>
          <a:p>
            <a:pPr algn="ctr">
              <a:spcBef>
                <a:spcPts val="4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Under the Guidance of:  [GUIDE NAME]</a:t>
            </a:r>
          </a:p>
          <a:p>
            <a:pPr algn="ctr">
              <a:spcBef>
                <a:spcPts val="1200"/>
              </a:spcBef>
              <a:defRPr sz="1300" b="1">
                <a:solidFill>
                  <a:srgbClr val="1E3A8A"/>
                </a:solidFill>
                <a:latin typeface="Arial"/>
              </a:defRPr>
            </a:pPr>
            <a:r>
              <a:t>Department of Computer Science and Engineering</a:t>
            </a:r>
          </a:p>
          <a:p>
            <a:pPr algn="ctr">
              <a:spcBef>
                <a:spcPts val="300"/>
              </a:spcBef>
              <a:defRPr sz="1150">
                <a:solidFill>
                  <a:srgbClr val="475569"/>
                </a:solidFill>
                <a:latin typeface="Arial"/>
              </a:defRPr>
            </a:pPr>
            <a:r>
              <a:t>Anil Neerukonda Institute of Technology and Sciences (ANITS), Visakhapatnam</a:t>
            </a:r>
            <a:br/>
            <a:r>
              <a:t>Academic Year: 2024–2025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Problem Statement &amp; Project Objectives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Addressing institutional operational bottlenecks through structured digitization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Arial"/>
              </a:defRPr>
            </a:pPr>
            <a:r>
              <a:t>The Core Problems (Manual Approach)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0F172A"/>
                </a:solidFill>
              </a:rPr>
              <a:t>• Physical Vulnerability: </a:t>
            </a:r>
            <a:r>
              <a:rPr sz="1200">
                <a:solidFill>
                  <a:srgbClr val="475569"/>
                </a:solidFill>
              </a:rPr>
              <a:t>Paper registers are vulnerable to damage, misplacement, and page loss.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0F172A"/>
                </a:solidFill>
              </a:rPr>
              <a:t>• Zero Visibility: </a:t>
            </a:r>
            <a:r>
              <a:rPr sz="1200">
                <a:solidFill>
                  <a:srgbClr val="475569"/>
                </a:solidFill>
              </a:rPr>
              <a:t>Complainants have no tracking mechanism to monitor repair progress.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0F172A"/>
                </a:solidFill>
              </a:rPr>
              <a:t>• Lack of Accountability: </a:t>
            </a:r>
            <a:r>
              <a:rPr sz="1200">
                <a:solidFill>
                  <a:srgbClr val="475569"/>
                </a:solidFill>
              </a:rPr>
              <a:t>Technicians receive verbal instructions without timestamps or audit trails.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0F172A"/>
                </a:solidFill>
              </a:rPr>
              <a:t>• Ambiguous Fault Locations: </a:t>
            </a:r>
            <a:r>
              <a:rPr sz="1200">
                <a:solidFill>
                  <a:srgbClr val="475569"/>
                </a:solidFill>
              </a:rPr>
              <a:t>Handwritten complaints lack floor/room context, causing wasted repair efforts.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0F172A"/>
                </a:solidFill>
              </a:rPr>
              <a:t>• Infeasible Historical Auditing: </a:t>
            </a:r>
            <a:r>
              <a:rPr sz="1200">
                <a:solidFill>
                  <a:srgbClr val="475569"/>
                </a:solidFill>
              </a:rPr>
              <a:t>Generating response times or recurring equipment failure reports is nearly impossible.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rial"/>
              </a:defRPr>
            </a:pPr>
            <a:r>
              <a:t>Key Project Objectives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172A"/>
                </a:solidFill>
              </a:rPr>
              <a:t>✓ Centralized Digitization: </a:t>
            </a:r>
            <a:r>
              <a:rPr sz="1200">
                <a:solidFill>
                  <a:srgbClr val="475569"/>
                </a:solidFill>
              </a:rPr>
              <a:t>Eliminate physical logbooks by offering a 24/7 web-based grievance portal.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172A"/>
                </a:solidFill>
              </a:rPr>
              <a:t>✓ Strict Role-Based Access: </a:t>
            </a:r>
            <a:r>
              <a:rPr sz="1200">
                <a:solidFill>
                  <a:srgbClr val="475569"/>
                </a:solidFill>
              </a:rPr>
              <a:t>Implement RBAC supporting Student, Faculty, Maintenance, and Admin.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172A"/>
                </a:solidFill>
              </a:rPr>
              <a:t>✓ Finite State Lifecycle: </a:t>
            </a:r>
            <a:r>
              <a:rPr sz="1200">
                <a:solidFill>
                  <a:srgbClr val="475569"/>
                </a:solidFill>
              </a:rPr>
              <a:t>Enforce audited state progression: NEW → VERIFIED → ASSIGNED → IN_PROGRESS → RESOLVED → CLOSED.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172A"/>
                </a:solidFill>
              </a:rPr>
              <a:t>✓ Location &amp; Urgency Mapping: </a:t>
            </a:r>
            <a:r>
              <a:rPr sz="1200">
                <a:solidFill>
                  <a:srgbClr val="475569"/>
                </a:solidFill>
              </a:rPr>
              <a:t>Categorize tickets by Building, Floor, Room, and Priority (Low to Critical).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172A"/>
                </a:solidFill>
              </a:rPr>
              <a:t>✓ Technician Task Queue: </a:t>
            </a:r>
            <a:r>
              <a:rPr sz="1200">
                <a:solidFill>
                  <a:srgbClr val="475569"/>
                </a:solidFill>
              </a:rPr>
              <a:t>Equip maintenance staff with active task queues and repair remarks logging.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172A"/>
                </a:solidFill>
              </a:rPr>
              <a:t>✓ Administrative Governance: </a:t>
            </a:r>
            <a:r>
              <a:rPr sz="1200">
                <a:solidFill>
                  <a:srgbClr val="475569"/>
                </a:solidFill>
              </a:rPr>
              <a:t>Provide real-time analytics across category breakdowns and open hazards.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Existing System vs. Proposed System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Comparative evaluation of operational efficiency and data transparency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97680"/>
                <a:gridCol w="4327855"/>
              </a:tblGrid>
              <a:tr h="666205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Operational Dimension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Existing System (Manual Registers)</a:t>
                      </a:r>
                    </a:p>
                  </a:txBody>
                  <a:tcPr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Proposed System (CCMS Web Portal)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Grievance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7F1D1D"/>
                          </a:solidFill>
                          <a:latin typeface="Arial"/>
                        </a:defRPr>
                      </a:pPr>
                      <a:r>
                        <a:t>Physical visit to department counter; manual paper register entry during office hours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24/7 web access; structured categorization, campus location mapping, and optional photo attachment.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Status Tracking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7F1D1D"/>
                          </a:solidFill>
                          <a:latin typeface="Arial"/>
                        </a:defRPr>
                      </a:pPr>
                      <a:r>
                        <a:t>No tracking mechanism; requires repeated verbal follow-ups at the caretaker desk.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Real-time status badges, chronological audit log, and assigned technician details.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Verification &amp;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7F1D1D"/>
                          </a:solidFill>
                          <a:latin typeface="Arial"/>
                        </a:defRPr>
                      </a:pPr>
                      <a:r>
                        <a:t>Supervisors read through handwritten logbooks; no filtering or formal verification step.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Interactive admin triage: instant search, status filtering, one-click verify or reject with remarks.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Task Dispatching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7F1D1D"/>
                          </a:solidFill>
                          <a:latin typeface="Arial"/>
                        </a:defRPr>
                      </a:pPr>
                      <a:r>
                        <a:t>Verbal work instructions; frequent ambiguity regarding exact room number or priority.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Direct digital assignment to qualified maintenance technician with supervisor notes.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Work 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7F1D1D"/>
                          </a:solidFill>
                          <a:latin typeface="Arial"/>
                        </a:defRPr>
                      </a:pPr>
                      <a:r>
                        <a:t>No formal work orders; repair completion communicated verbally or not at all.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Technician task queue; status update to IN_PROGRESS and diagnostic remarks upon resolution.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Satisfaction Review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7F1D1D"/>
                          </a:solidFill>
                          <a:latin typeface="Arial"/>
                        </a:defRPr>
                      </a:pPr>
                      <a:r>
                        <a:t>Complainants have no mechanism to evaluate repair quality or reopen issues.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1 to 5 star rating submission, evaluative commentary, and reopening capability if issue persists.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System Architecture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Decoupled 3-tier client-server architecture with stateless JWT security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8404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691640"/>
            <a:ext cx="2915766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846320" y="1554480"/>
            <a:ext cx="6613855" cy="4754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737360"/>
            <a:ext cx="62480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Arial"/>
              </a:defRPr>
            </a:pPr>
            <a:r>
              <a:t>Architectural Tier Breakdown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2563EB"/>
                </a:solidFill>
              </a:rPr>
              <a:t>• Presentation Tier (React 18 SPA)
</a:t>
            </a:r>
            <a:r>
              <a:rPr sz="1050">
                <a:solidFill>
                  <a:srgbClr val="475569"/>
                </a:solidFill>
              </a:rPr>
              <a:t>Single Page Application built with Vite 5 and styled via Tailwind CSS. Axios client automatically injects JWT Bearer token into all API headers for seamless authorization.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2563EB"/>
                </a:solidFill>
              </a:rPr>
              <a:t>• Application Tier (Node.js &amp; Express)
</a:t>
            </a:r>
            <a:r>
              <a:rPr sz="1050">
                <a:solidFill>
                  <a:srgbClr val="475569"/>
                </a:solidFill>
              </a:rPr>
              <a:t>Stateless REST API implementing CORS, express-validator sanitization, Multer multipart upload handler, and verifyToken / requireRole middleware pipelines.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2563EB"/>
                </a:solidFill>
              </a:rPr>
              <a:t>• Storage Tier (MySQL 8 Relational DB)
</a:t>
            </a:r>
            <a:r>
              <a:rPr sz="1050">
                <a:solidFill>
                  <a:srgbClr val="475569"/>
                </a:solidFill>
              </a:rPr>
              <a:t>ACID-compliant relational database (ccms_db) organized into 7 normalized tables. Connected via promise-based connection pool executing parameterized queries.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2563EB"/>
                </a:solidFill>
              </a:rPr>
              <a:t>• Security &amp; Session Model
</a:t>
            </a:r>
            <a:r>
              <a:rPr sz="1050">
                <a:solidFill>
                  <a:srgbClr val="475569"/>
                </a:solidFill>
              </a:rPr>
              <a:t>Stateless authentication via JSON Web Tokens (JWT) signed with HS256. Passwords securely hashed and salted using bcryptjs (10 rounds).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Major System Modules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Cohesive functional modules mapped to client routes and REST controllers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4134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304769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1. Authentication &amp; RBAC Module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Manages user registration, bcryptjs password hashing, JWT token generation, and role authorization guards across Student, Faculty, Maintenance, and Admin.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4134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737360"/>
            <a:ext cx="304769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2. Complaint Lodging Module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Provides reactive form controls mapping issues to standardized campus categories and physical rooms, supporting Multer image uploads and generating unique CMP-IDs.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554480"/>
            <a:ext cx="34134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04769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3. Admin Triage &amp; Dashboard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Equips administrators with campus-wide ticket visibility, multi-filter search, one-click verification/rejection with remarks, and live metric summaries.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4134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304769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4. Maintenance Task Queue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Dispatches verified tickets to active maintenance staff, providing technicians with focused task queues to start work and log resolution remarks.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023360"/>
            <a:ext cx="34134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206240"/>
            <a:ext cx="304769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5. Status Auditing &amp; Feedback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Maintains an immutable append-only audit log in complaint_updates for every transition, and collects 1–5 star user feedback ratings upon ticket resolution.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4134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206240"/>
            <a:ext cx="304769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6. Master Data Administration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Allows administrators to catalog campus buildings, floors, and rooms, manage active complaint categories, and toggle user active states without deleting history.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Complaint Workflow &amp; State Lifecycle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Audited Finite State Machine enforcing valid operational progression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62179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1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86000"/>
            <a:ext cx="5669280" cy="325038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1554480"/>
            <a:ext cx="4327855" cy="4754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737360"/>
            <a:ext cx="39620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Arial"/>
              </a:defRPr>
            </a:pPr>
            <a:r>
              <a:t>Lifecycle State Transitions</a:t>
            </a:r>
          </a:p>
          <a:p>
            <a:pPr>
              <a:spcBef>
                <a:spcPts val="500"/>
              </a:spcBef>
            </a:pPr>
            <a:r>
              <a:rPr b="1" sz="1100">
                <a:solidFill>
                  <a:srgbClr val="2563EB"/>
                </a:solidFill>
              </a:rPr>
              <a:t>1. NEW: </a:t>
            </a:r>
            <a:r>
              <a:rPr sz="1050">
                <a:solidFill>
                  <a:srgbClr val="475569"/>
                </a:solidFill>
              </a:rPr>
              <a:t>Complaint lodged by student/faculty with location and description.</a:t>
            </a:r>
          </a:p>
          <a:p>
            <a:pPr>
              <a:spcBef>
                <a:spcPts val="500"/>
              </a:spcBef>
            </a:pPr>
            <a:r>
              <a:rPr b="1" sz="1100">
                <a:solidFill>
                  <a:srgbClr val="2563EB"/>
                </a:solidFill>
              </a:rPr>
              <a:t>2. VERIFIED: </a:t>
            </a:r>
            <a:r>
              <a:rPr sz="1050">
                <a:solidFill>
                  <a:srgbClr val="475569"/>
                </a:solidFill>
              </a:rPr>
              <a:t>Administrator reviews details and authenticates the issue.</a:t>
            </a:r>
          </a:p>
          <a:p>
            <a:pPr>
              <a:spcBef>
                <a:spcPts val="500"/>
              </a:spcBef>
            </a:pPr>
            <a:r>
              <a:rPr b="1" sz="1100">
                <a:solidFill>
                  <a:srgbClr val="2563EB"/>
                </a:solidFill>
              </a:rPr>
              <a:t>3. REJECTED: </a:t>
            </a:r>
            <a:r>
              <a:rPr sz="1050">
                <a:solidFill>
                  <a:srgbClr val="475569"/>
                </a:solidFill>
              </a:rPr>
              <a:t>Administrator dismisses invalid/out-of-scope ticket with notes.</a:t>
            </a:r>
          </a:p>
          <a:p>
            <a:pPr>
              <a:spcBef>
                <a:spcPts val="500"/>
              </a:spcBef>
            </a:pPr>
            <a:r>
              <a:rPr b="1" sz="1100">
                <a:solidFill>
                  <a:srgbClr val="2563EB"/>
                </a:solidFill>
              </a:rPr>
              <a:t>4. ASSIGNED: </a:t>
            </a:r>
            <a:r>
              <a:rPr sz="1050">
                <a:solidFill>
                  <a:srgbClr val="475569"/>
                </a:solidFill>
              </a:rPr>
              <a:t>Administrator allocates verified ticket to designated technician.</a:t>
            </a:r>
          </a:p>
          <a:p>
            <a:pPr>
              <a:spcBef>
                <a:spcPts val="500"/>
              </a:spcBef>
            </a:pPr>
            <a:r>
              <a:rPr b="1" sz="1100">
                <a:solidFill>
                  <a:srgbClr val="2563EB"/>
                </a:solidFill>
              </a:rPr>
              <a:t>5. IN_PROGRESS: </a:t>
            </a:r>
            <a:r>
              <a:rPr sz="1050">
                <a:solidFill>
                  <a:srgbClr val="475569"/>
                </a:solidFill>
              </a:rPr>
              <a:t>Technician accepts ticket and initiates physical remediation.</a:t>
            </a:r>
          </a:p>
          <a:p>
            <a:pPr>
              <a:spcBef>
                <a:spcPts val="500"/>
              </a:spcBef>
            </a:pPr>
            <a:r>
              <a:rPr b="1" sz="1100">
                <a:solidFill>
                  <a:srgbClr val="2563EB"/>
                </a:solidFill>
              </a:rPr>
              <a:t>6. RESOLVED: </a:t>
            </a:r>
            <a:r>
              <a:rPr sz="1050">
                <a:solidFill>
                  <a:srgbClr val="475569"/>
                </a:solidFill>
              </a:rPr>
              <a:t>Technician completes work and logs diagnostic remarks.</a:t>
            </a:r>
          </a:p>
          <a:p>
            <a:pPr>
              <a:spcBef>
                <a:spcPts val="500"/>
              </a:spcBef>
            </a:pPr>
            <a:r>
              <a:rPr b="1" sz="1100">
                <a:solidFill>
                  <a:srgbClr val="2563EB"/>
                </a:solidFill>
              </a:rPr>
              <a:t>7. CLOSED: </a:t>
            </a:r>
            <a:r>
              <a:rPr sz="1050">
                <a:solidFill>
                  <a:srgbClr val="475569"/>
                </a:solidFill>
              </a:rPr>
              <a:t>Complainant or Admin confirms fix; student prompted for rating.</a:t>
            </a:r>
          </a:p>
          <a:p>
            <a:pPr>
              <a:spcBef>
                <a:spcPts val="500"/>
              </a:spcBef>
            </a:pPr>
            <a:r>
              <a:rPr b="1" sz="1100">
                <a:solidFill>
                  <a:srgbClr val="2563EB"/>
                </a:solidFill>
              </a:rPr>
              <a:t>8. REOPENED: </a:t>
            </a:r>
            <a:r>
              <a:rPr sz="1050">
                <a:solidFill>
                  <a:srgbClr val="475569"/>
                </a:solidFill>
              </a:rPr>
              <a:t>User reports issue still persists; ticket returns for reassignment.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Technology Stack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Robust, open-source technologies utilized in the CCMS implementation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422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39"/>
            <a:ext cx="48764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3A8A"/>
                </a:solidFill>
                <a:latin typeface="Arial"/>
              </a:defRPr>
            </a:pPr>
            <a:r>
              <a:t>Frontend Technologies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React 18.2: </a:t>
            </a:r>
            <a:r>
              <a:rPr sz="1050">
                <a:solidFill>
                  <a:srgbClr val="475569"/>
                </a:solidFill>
              </a:rPr>
              <a:t>Single Page Application component framework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Vite 5.0: </a:t>
            </a:r>
            <a:r>
              <a:rPr sz="1050">
                <a:solidFill>
                  <a:srgbClr val="475569"/>
                </a:solidFill>
              </a:rPr>
              <a:t>High-performance build tooling &amp; development server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Tailwind CSS 3.3: </a:t>
            </a:r>
            <a:r>
              <a:rPr sz="1050">
                <a:solidFill>
                  <a:srgbClr val="475569"/>
                </a:solidFill>
              </a:rPr>
              <a:t>Utility-first responsive styling system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React Router v6: </a:t>
            </a:r>
            <a:r>
              <a:rPr sz="1050">
                <a:solidFill>
                  <a:srgbClr val="475569"/>
                </a:solidFill>
              </a:rPr>
              <a:t>Client-side route navigation &amp; role guards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Axios 1.6: </a:t>
            </a:r>
            <a:r>
              <a:rPr sz="1050">
                <a:solidFill>
                  <a:srgbClr val="475569"/>
                </a:solidFill>
              </a:rPr>
              <a:t>HTTP client with JWT request interceptor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422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91639"/>
            <a:ext cx="48764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3A8A"/>
                </a:solidFill>
                <a:latin typeface="Arial"/>
              </a:defRPr>
            </a:pPr>
            <a:r>
              <a:t>Backend Technologies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Node.js 18+ LTS: </a:t>
            </a:r>
            <a:r>
              <a:rPr sz="1050">
                <a:solidFill>
                  <a:srgbClr val="475569"/>
                </a:solidFill>
              </a:rPr>
              <a:t>Event-driven asynchronous server runtime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Express.js 4.19: </a:t>
            </a:r>
            <a:r>
              <a:rPr sz="1050">
                <a:solidFill>
                  <a:srgbClr val="475569"/>
                </a:solidFill>
              </a:rPr>
              <a:t>Lightweight, unopinionated REST API framework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express-validator: </a:t>
            </a:r>
            <a:r>
              <a:rPr sz="1050">
                <a:solidFill>
                  <a:srgbClr val="475569"/>
                </a:solidFill>
              </a:rPr>
              <a:t>Server-side body sanitization &amp; validation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Multer 1.4: </a:t>
            </a:r>
            <a:r>
              <a:rPr sz="1050">
                <a:solidFill>
                  <a:srgbClr val="475569"/>
                </a:solidFill>
              </a:rPr>
              <a:t>Multipart form-data evidence image handler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CORS &amp; dotenv: </a:t>
            </a:r>
            <a:r>
              <a:rPr sz="1050">
                <a:solidFill>
                  <a:srgbClr val="475569"/>
                </a:solidFill>
              </a:rPr>
              <a:t>Cross-origin control &amp; environment configuration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2422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48764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3A8A"/>
                </a:solidFill>
                <a:latin typeface="Arial"/>
              </a:defRPr>
            </a:pPr>
            <a:r>
              <a:t>Database &amp; Storage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MySQL 8.0+: </a:t>
            </a:r>
            <a:r>
              <a:rPr sz="1050">
                <a:solidFill>
                  <a:srgbClr val="475569"/>
                </a:solidFill>
              </a:rPr>
              <a:t>ACID-compliant relational database engine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mysql2 3.9: </a:t>
            </a:r>
            <a:r>
              <a:rPr sz="1050">
                <a:solidFill>
                  <a:srgbClr val="475569"/>
                </a:solidFill>
              </a:rPr>
              <a:t>Promise-based high-performance connection pool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7 Relational Tables: </a:t>
            </a:r>
            <a:r>
              <a:rPr sz="1050">
                <a:solidFill>
                  <a:srgbClr val="475569"/>
                </a:solidFill>
              </a:rPr>
              <a:t>Fully normalized schema with foreign keys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InnoDB Engine: </a:t>
            </a:r>
            <a:r>
              <a:rPr sz="1050">
                <a:solidFill>
                  <a:srgbClr val="475569"/>
                </a:solidFill>
              </a:rPr>
              <a:t>Row-level locking and transaction safety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Filesystem Storage: </a:t>
            </a:r>
            <a:r>
              <a:rPr sz="1050">
                <a:solidFill>
                  <a:srgbClr val="475569"/>
                </a:solidFill>
              </a:rPr>
              <a:t>Local storage for uploaded complaint photos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422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8764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3A8A"/>
                </a:solidFill>
                <a:latin typeface="Arial"/>
              </a:defRPr>
            </a:pPr>
            <a:r>
              <a:t>Security &amp; Tooling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JSON Web Tokens (JWT): </a:t>
            </a:r>
            <a:r>
              <a:rPr sz="1050">
                <a:solidFill>
                  <a:srgbClr val="475569"/>
                </a:solidFill>
              </a:rPr>
              <a:t>Stateless HS256 authorization tokens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bcryptjs: </a:t>
            </a:r>
            <a:r>
              <a:rPr sz="1050">
                <a:solidFill>
                  <a:srgbClr val="475569"/>
                </a:solidFill>
              </a:rPr>
              <a:t>Secure password hashing with 10 salt rounds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Git &amp; GitHub: </a:t>
            </a:r>
            <a:r>
              <a:rPr sz="1050">
                <a:solidFill>
                  <a:srgbClr val="475569"/>
                </a:solidFill>
              </a:rPr>
              <a:t>Version control &amp; repository management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Visual Studio Code: </a:t>
            </a:r>
            <a:r>
              <a:rPr sz="1050">
                <a:solidFill>
                  <a:srgbClr val="475569"/>
                </a:solidFill>
              </a:rPr>
              <a:t>Primary development environment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0F172A"/>
                </a:solidFill>
              </a:rPr>
              <a:t>• Cross-Browser: </a:t>
            </a:r>
            <a:r>
              <a:rPr sz="1050">
                <a:solidFill>
                  <a:srgbClr val="475569"/>
                </a:solidFill>
              </a:rPr>
              <a:t>Tested on Chrome, Edge, and Firefox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Application Screens &amp; Implementation Results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Authentic screenshots captured from the live CCMS application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4225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login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3017520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931920" y="182880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1. Role-Based Login Portal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Authentication entry point with demo account quick-fill info.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new_compl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59" y="1645920"/>
            <a:ext cx="30175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18320" y="182880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2. Complaint Lodging Form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Dropdown selection for categories, locations, and priority levels.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4225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admin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114800"/>
            <a:ext cx="3017520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31920" y="429768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3. Administrator Control Center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Real-time metrics, status breakdowns, and critical open hazards.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023360"/>
            <a:ext cx="524225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5_maintenance_task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59" y="4114800"/>
            <a:ext cx="3017520" cy="2103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18320" y="429768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4. Technician Work Order Queue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Assigned task tracking with 'Start Work' and 'Mark Resolved' 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Testing &amp; Quality Verification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Rigorous verification covering unit logic, state progression, and end-to-end workflows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4114800" cy="4754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Arial"/>
              </a:defRPr>
            </a:pPr>
            <a:r>
              <a:t>Testing Methodology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563EB"/>
                </a:solidFill>
              </a:rPr>
              <a:t>• Unit Testing: </a:t>
            </a:r>
            <a:r>
              <a:rPr sz="1050">
                <a:solidFill>
                  <a:srgbClr val="475569"/>
                </a:solidFill>
              </a:rPr>
              <a:t>Verified bcrypt password hashing, token decoding, and unique tracking code generators.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563EB"/>
                </a:solidFill>
              </a:rPr>
              <a:t>• Basis Path Testing: </a:t>
            </a:r>
            <a:r>
              <a:rPr sz="1050">
                <a:solidFill>
                  <a:srgbClr val="475569"/>
                </a:solidFill>
              </a:rPr>
              <a:t>Mapped cyclomatic complexity of statusController.js; validated all legal and illegal transition paths.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563EB"/>
                </a:solidFill>
              </a:rPr>
              <a:t>• Role Access Testing: </a:t>
            </a:r>
            <a:r>
              <a:rPr sz="1050">
                <a:solidFill>
                  <a:srgbClr val="475569"/>
                </a:solidFill>
              </a:rPr>
              <a:t>Verified that student tokens cannot access admin or technician routes (HTTP 403 Forbidden).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563EB"/>
                </a:solidFill>
              </a:rPr>
              <a:t>• System Integration: </a:t>
            </a:r>
            <a:r>
              <a:rPr sz="1050">
                <a:solidFill>
                  <a:srgbClr val="475569"/>
                </a:solidFill>
              </a:rPr>
              <a:t>Automated browser validation via Playwright confirming end-to-end user journeys.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20640" y="1554480"/>
          <a:ext cx="633953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011680"/>
                <a:gridCol w="2590495"/>
                <a:gridCol w="914400"/>
              </a:tblGrid>
              <a:tr h="67926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ID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Scenario Evaluated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Expected &amp; Observed Result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Arial"/>
                        </a:defRPr>
                      </a:pPr>
                      <a:r>
                        <a:t>TC01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Administrator Authentication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HTTP 200; JWT issued; redirects to Admin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Arial"/>
                        </a:defRPr>
                      </a:pPr>
                      <a:r>
                        <a:t>TC02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Student User Authentication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HTTP 200; JWT issued; redirects to Student Dashboard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Arial"/>
                        </a:defRPr>
                      </a:pPr>
                      <a:r>
                        <a:t>TC03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Complaint Lodging with Photo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HTTP 201; Reference code CMP-ID generated; stored in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Arial"/>
                        </a:defRPr>
                      </a:pPr>
                      <a:r>
                        <a:t>TC04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Illegal Transition (NEW -&gt; CLOSED)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HTTP 400; Transition rejected by FSM validator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Arial"/>
                        </a:defRPr>
                      </a:pPr>
                      <a:r>
                        <a:t>TC05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Admin Technician Assignment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HTTP 200; Complaint assigned; dispatched to staff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Arial"/>
                        </a:defRPr>
                      </a:pPr>
                      <a:r>
                        <a:t>TC06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Unauthorized Endpoint Access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HTTP 403 Forbidden; Student token blocked from admin API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Conclusion &amp; Future Scope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Summary of engineering achievements and potential future enhancements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Arial"/>
              </a:defRPr>
            </a:pPr>
            <a:r>
              <a:t>Project Conclusion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6A34A"/>
                </a:solidFill>
              </a:rPr>
              <a:t>✓ Paperless Digitization: </a:t>
            </a:r>
            <a:r>
              <a:rPr sz="1100">
                <a:solidFill>
                  <a:srgbClr val="475569"/>
                </a:solidFill>
              </a:rPr>
              <a:t>Replaced error-prone manual logbooks with an efficient 24/7 web-based portal.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6A34A"/>
                </a:solidFill>
              </a:rPr>
              <a:t>✓ Accountability &amp; Transparency: </a:t>
            </a:r>
            <a:r>
              <a:rPr sz="1100">
                <a:solidFill>
                  <a:srgbClr val="475569"/>
                </a:solidFill>
              </a:rPr>
              <a:t>Enforced role-based access and an immutable audit trail for every status change.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6A34A"/>
                </a:solidFill>
              </a:rPr>
              <a:t>✓ Structured Workflow: </a:t>
            </a:r>
            <a:r>
              <a:rPr sz="1100">
                <a:solidFill>
                  <a:srgbClr val="475569"/>
                </a:solidFill>
              </a:rPr>
              <a:t>Implemented an explicit Finite State Machine preventing illegal state jumps.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6A34A"/>
                </a:solidFill>
              </a:rPr>
              <a:t>✓ Multi-Role Empowerment: </a:t>
            </a:r>
            <a:r>
              <a:rPr sz="1100">
                <a:solidFill>
                  <a:srgbClr val="475569"/>
                </a:solidFill>
              </a:rPr>
              <a:t>Tailored dashboards for Complainants, Maintenance Technicians, and Administrators.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rial"/>
              </a:defRPr>
            </a:pPr>
            <a:r>
              <a:t>Future Scope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0F172A"/>
                </a:solidFill>
              </a:rPr>
              <a:t>• Automated Notifications: </a:t>
            </a:r>
            <a:r>
              <a:rPr sz="1100">
                <a:solidFill>
                  <a:srgbClr val="475569"/>
                </a:solidFill>
              </a:rPr>
              <a:t>Integration of SMTP email alerts and SMS gateways (Twilio / Nodemailer).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0F172A"/>
                </a:solidFill>
              </a:rPr>
              <a:t>• Cloud Object Storage: </a:t>
            </a:r>
            <a:r>
              <a:rPr sz="1100">
                <a:solidFill>
                  <a:srgbClr val="475569"/>
                </a:solidFill>
              </a:rPr>
              <a:t>Migration of image uploads from local filesystem to Amazon S3 or Cloudinary.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0F172A"/>
                </a:solidFill>
              </a:rPr>
              <a:t>• Native Mobile App: </a:t>
            </a:r>
            <a:r>
              <a:rPr sz="1100">
                <a:solidFill>
                  <a:srgbClr val="475569"/>
                </a:solidFill>
              </a:rPr>
              <a:t>Cross-platform mobile application development using React Native.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0F172A"/>
                </a:solidFill>
              </a:rPr>
              <a:t>• Automated Dispatching: </a:t>
            </a:r>
            <a:r>
              <a:rPr sz="1100">
                <a:solidFill>
                  <a:srgbClr val="475569"/>
                </a:solidFill>
              </a:rPr>
              <a:t>Intelligent staff allocation based on technician trade skills and active workload.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69280"/>
            <a:ext cx="10728655" cy="82296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150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Thank You  |  Questions &amp;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